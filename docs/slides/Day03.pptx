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98" r:id="rId49"/>
    <p:sldId id="299" r:id="rId50"/>
    <p:sldId id="300" r:id="rId51"/>
    <p:sldId id="259" r:id="rId5"/>
    <p:sldId id="260" r:id="rId6"/>
    <p:sldId id="301" r:id="rId52"/>
    <p:sldId id="302" r:id="rId53"/>
    <p:sldId id="303" r:id="rId54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304" r:id="rId55"/>
    <p:sldId id="305" r:id="rId56"/>
  </p:sldIdLst>
  <p:notesMasterIdLst>
    <p:notesMasterId r:id="rId44"/>
  </p:notesMasterIdLst>
  <p:sldSz cx="12191695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7.xml"/><Relationship Id="rId6" Type="http://schemas.openxmlformats.org/officeDocument/2006/relationships/slide" Target="slides/slide8.xml"/><Relationship Id="rId7" Type="http://schemas.openxmlformats.org/officeDocument/2006/relationships/slide" Target="slides/slide12.xml"/><Relationship Id="rId8" Type="http://schemas.openxmlformats.org/officeDocument/2006/relationships/slide" Target="slides/slide13.xml"/><Relationship Id="rId9" Type="http://schemas.openxmlformats.org/officeDocument/2006/relationships/slide" Target="slides/slide14.xml"/><Relationship Id="rId10" Type="http://schemas.openxmlformats.org/officeDocument/2006/relationships/slide" Target="slides/slide15.xml"/><Relationship Id="rId11" Type="http://schemas.openxmlformats.org/officeDocument/2006/relationships/slide" Target="slides/slide16.xml"/><Relationship Id="rId12" Type="http://schemas.openxmlformats.org/officeDocument/2006/relationships/slide" Target="slides/slide17.xml"/><Relationship Id="rId13" Type="http://schemas.openxmlformats.org/officeDocument/2006/relationships/slide" Target="slides/slide18.xml"/><Relationship Id="rId14" Type="http://schemas.openxmlformats.org/officeDocument/2006/relationships/slide" Target="slides/slide19.xml"/><Relationship Id="rId15" Type="http://schemas.openxmlformats.org/officeDocument/2006/relationships/slide" Target="slides/slide20.xml"/><Relationship Id="rId16" Type="http://schemas.openxmlformats.org/officeDocument/2006/relationships/slide" Target="slides/slide21.xml"/><Relationship Id="rId17" Type="http://schemas.openxmlformats.org/officeDocument/2006/relationships/slide" Target="slides/slide22.xml"/><Relationship Id="rId18" Type="http://schemas.openxmlformats.org/officeDocument/2006/relationships/slide" Target="slides/slide23.xml"/><Relationship Id="rId19" Type="http://schemas.openxmlformats.org/officeDocument/2006/relationships/slide" Target="slides/slide24.xml"/><Relationship Id="rId20" Type="http://schemas.openxmlformats.org/officeDocument/2006/relationships/slide" Target="slides/slide25.xml"/><Relationship Id="rId21" Type="http://schemas.openxmlformats.org/officeDocument/2006/relationships/slide" Target="slides/slide26.xml"/><Relationship Id="rId22" Type="http://schemas.openxmlformats.org/officeDocument/2006/relationships/slide" Target="slides/slide27.xml"/><Relationship Id="rId23" Type="http://schemas.openxmlformats.org/officeDocument/2006/relationships/slide" Target="slides/slide28.xml"/><Relationship Id="rId24" Type="http://schemas.openxmlformats.org/officeDocument/2006/relationships/slide" Target="slides/slide29.xml"/><Relationship Id="rId25" Type="http://schemas.openxmlformats.org/officeDocument/2006/relationships/slide" Target="slides/slide30.xml"/><Relationship Id="rId26" Type="http://schemas.openxmlformats.org/officeDocument/2006/relationships/slide" Target="slides/slide31.xml"/><Relationship Id="rId27" Type="http://schemas.openxmlformats.org/officeDocument/2006/relationships/slide" Target="slides/slide32.xml"/><Relationship Id="rId28" Type="http://schemas.openxmlformats.org/officeDocument/2006/relationships/slide" Target="slides/slide33.xml"/><Relationship Id="rId29" Type="http://schemas.openxmlformats.org/officeDocument/2006/relationships/slide" Target="slides/slide34.xml"/><Relationship Id="rId30" Type="http://schemas.openxmlformats.org/officeDocument/2006/relationships/slide" Target="slides/slide35.xml"/><Relationship Id="rId31" Type="http://schemas.openxmlformats.org/officeDocument/2006/relationships/slide" Target="slides/slide36.xml"/><Relationship Id="rId32" Type="http://schemas.openxmlformats.org/officeDocument/2006/relationships/slide" Target="slides/slide37.xml"/><Relationship Id="rId33" Type="http://schemas.openxmlformats.org/officeDocument/2006/relationships/slide" Target="slides/slide38.xml"/><Relationship Id="rId34" Type="http://schemas.openxmlformats.org/officeDocument/2006/relationships/slide" Target="slides/slide39.xml"/><Relationship Id="rId35" Type="http://schemas.openxmlformats.org/officeDocument/2006/relationships/slide" Target="slides/slide40.xml"/><Relationship Id="rId36" Type="http://schemas.openxmlformats.org/officeDocument/2006/relationships/slide" Target="slides/slide41.xml"/><Relationship Id="rId37" Type="http://schemas.openxmlformats.org/officeDocument/2006/relationships/slide" Target="slides/slide42.xml"/><Relationship Id="rId38" Type="http://schemas.openxmlformats.org/officeDocument/2006/relationships/slide" Target="slides/slide43.xml"/><Relationship Id="rId39" Type="http://schemas.openxmlformats.org/officeDocument/2006/relationships/slide" Target="slides/slide44.xml"/><Relationship Id="rId40" Type="http://schemas.openxmlformats.org/officeDocument/2006/relationships/slide" Target="slides/slide45.xml"/><Relationship Id="rId41" Type="http://schemas.openxmlformats.org/officeDocument/2006/relationships/slide" Target="slides/slide46.xml"/><Relationship Id="rId42" Type="http://schemas.openxmlformats.org/officeDocument/2006/relationships/slide" Target="slides/slide47.xml"/><Relationship Id="rId43" Type="http://schemas.openxmlformats.org/officeDocument/2006/relationships/slide" Target="slides/slide48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49" Type="http://schemas.openxmlformats.org/officeDocument/2006/relationships/slide" Target="slides/slide4.xml"/><Relationship Id="rId50" Type="http://schemas.openxmlformats.org/officeDocument/2006/relationships/slide" Target="slides/slide5.xml"/><Relationship Id="rId51" Type="http://schemas.openxmlformats.org/officeDocument/2006/relationships/slide" Target="slides/slide6.xml"/><Relationship Id="rId52" Type="http://schemas.openxmlformats.org/officeDocument/2006/relationships/slide" Target="slides/slide9.xml"/><Relationship Id="rId53" Type="http://schemas.openxmlformats.org/officeDocument/2006/relationships/slide" Target="slides/slide10.xml"/><Relationship Id="rId54" Type="http://schemas.openxmlformats.org/officeDocument/2006/relationships/slide" Target="slides/slide11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강사 노트: 오늘의 초점은 ③에이전트 루프입니다. 어제까지 단독으로 돌던 루프들이 오늘 하나의 중앙 루프(Supervisor)로 조율됩니다.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강사 노트: 모든 전달이 State를 경유해야 감사와 재현성이 생깁니다. Agent 간 직접 호출을 금지하는 이유가 이것입니다 — State만 보면 전체 이력이 복원됩니다.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강사 노트: 멀티 에이전트는 Agent 수가 많은 것이 아니라 역할과 책임을 나누는 것입니다. 조율 없는 다수는 오히려 혼란이라는 점을 강조하세요.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강사 노트: 멀티 에이전트는 Agent 수가 많은 것이 아니라 역할과 책임을 나누는 것임을 다시 강조하세요. 어제 단독 실행한 경험이 있어야 '조율이 더해준 것'(순서 통제, 검증, 감사)이 무엇인지 비교로 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강사 노트: HITL은 자동화를 방해하는 장치가 아니라 위험한 자동화를 통제하는 장치입니다. High 이상만 멈추므로 속도 손실은 최소화되고, 기본값 거부가 안전의 출발점입니다.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강사 노트: HITL은 자동화를 방해하는 것이 아니라 위험한 자동화를 통제하는 장치입니다. 모든 발견이 아니라 High 이상만 멈추므로 속도 손실은 최소화됩니다. State를 경유해야 하는 이유(감사와 재현성)도 이 타임라인에서 함께 설명하세요 — ④의 기록은 State에 모든 것이 모이기에 가능합니다.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HYUNDAI MOTOR · 차량사이버보안개발팀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1783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2468880"/>
            <a:ext cx="11155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Orchestration · HITL · Audit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3657600"/>
            <a:ext cx="548640" cy="45720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3840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통합 운영자료 (개념+실습 병행) · 6/10 水 · 09:00–17:00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4389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Supervisor로 5개 Agent를 조율하고, 검증 루프·HITL·감사 로그를 심는다.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5029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파일 하나로 하루 수업을 끝까지 진행합니다. 상세 이론은 Appendix를 참조하세요.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모두의연구소 · Agentic Security 심화 과정 · 2주차 (Day 1~5)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DAY 3 · 09:00–17:00 운영 흐름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3 운영 흐름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411480" cy="41148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2801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Supervisor로 5개 Agent를 조율하고, 검증 루프·HITL·감사 로그를 심는다.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Agentic Security 심화 · Day 3 · 시간표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Malgun Gothic"/>
              </a:rPr>
              <a:t>2</a:t>
            </a:r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11183112" cy="566928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02920" y="1783080"/>
            <a:ext cx="54864" cy="566928"/>
          </a:xfrm>
          <a:prstGeom prst="rect">
            <a:avLst/>
          </a:prstGeom>
          <a:solidFill>
            <a:srgbClr val="1B9CE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" y="17830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09:00–10:20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0" y="1920240"/>
            <a:ext cx="566928" cy="292608"/>
          </a:xfrm>
          <a:prstGeom prst="rect">
            <a:avLst/>
          </a:prstGeom>
          <a:solidFill>
            <a:srgbClr val="1B9CE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286000" y="192024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t>10:20–11:40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90088" y="178308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80m</a:t>
            </a:r>
          </a:p>
        </p:txBody>
      </p:sp>
      <p:sp>
        <p:nvSpPr>
          <p:cNvPr id="14" name="Text 12"/>
          <p:cNvSpPr/>
          <p:nvPr/>
        </p:nvSpPr>
        <p:spPr>
          <a:xfrm>
            <a:off x="3886200" y="1783080"/>
            <a:ext cx="7616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복습+개념</a:t>
            </a:r>
          </a:p>
        </p:txBody>
      </p:sp>
      <p:sp>
        <p:nvSpPr>
          <p:cNvPr id="15" name="Shape 13"/>
          <p:cNvSpPr/>
          <p:nvPr/>
        </p:nvSpPr>
        <p:spPr>
          <a:xfrm>
            <a:off x="502920" y="2423160"/>
            <a:ext cx="11183112" cy="566928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02920" y="2423160"/>
            <a:ext cx="54864" cy="566928"/>
          </a:xfrm>
          <a:prstGeom prst="rect">
            <a:avLst/>
          </a:prstGeom>
          <a:solidFill>
            <a:srgbClr val="8A8A8A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67512" y="242316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11:40–13:00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0" y="2560320"/>
            <a:ext cx="566928" cy="292608"/>
          </a:xfrm>
          <a:prstGeom prst="rect">
            <a:avLst/>
          </a:prstGeom>
          <a:solidFill>
            <a:srgbClr val="8A8A8A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286000" y="256032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t>13:00–14:20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90088" y="242316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/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86200" y="2423160"/>
            <a:ext cx="7616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/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3063240"/>
            <a:ext cx="11183112" cy="566928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502920" y="3063240"/>
            <a:ext cx="54864" cy="566928"/>
          </a:xfrm>
          <a:prstGeom prst="rect">
            <a:avLst/>
          </a:prstGeom>
          <a:solidFill>
            <a:srgbClr val="0E9488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" y="30632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>14:20–15:40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86000" y="3200400"/>
            <a:ext cx="566928" cy="292608"/>
          </a:xfrm>
          <a:prstGeom prst="rect">
            <a:avLst/>
          </a:prstGeom>
          <a:solidFill>
            <a:srgbClr val="0E9488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2286000" y="320040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t>15:40–17:00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90088" y="306324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80m</a:t>
            </a:r>
          </a:p>
        </p:txBody>
      </p:sp>
      <p:sp>
        <p:nvSpPr>
          <p:cNvPr id="28" name="Text 26"/>
          <p:cNvSpPr/>
          <p:nvPr/>
        </p:nvSpPr>
        <p:spPr>
          <a:xfrm>
            <a:off x="3886200" y="3063240"/>
            <a:ext cx="7616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HITL 실행</a:t>
            </a:r>
          </a:p>
        </p:txBody>
      </p:sp>
      <p:sp>
        <p:nvSpPr>
          <p:cNvPr id="29" name="Shape 27"/>
          <p:cNvSpPr/>
          <p:nvPr/>
        </p:nvSpPr>
        <p:spPr>
          <a:xfrm>
            <a:off x="502920" y="3703320"/>
            <a:ext cx="11183112" cy="566928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502920" y="3703320"/>
            <a:ext cx="54864" cy="566928"/>
          </a:xfrm>
          <a:prstGeom prst="rect">
            <a:avLst/>
          </a:prstGeom>
          <a:solidFill>
            <a:srgbClr val="8A8A8A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67512" y="37033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/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286000" y="3840480"/>
            <a:ext cx="566928" cy="292608"/>
          </a:xfrm>
          <a:prstGeom prst="rect">
            <a:avLst/>
          </a:prstGeom>
          <a:solidFill>
            <a:srgbClr val="8A8A8A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2286000" y="38404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t/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990088" y="370332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/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886200" y="3703320"/>
            <a:ext cx="7616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/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02920" y="4343400"/>
            <a:ext cx="11183112" cy="566928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502920" y="4343400"/>
            <a:ext cx="54864" cy="566928"/>
          </a:xfrm>
          <a:prstGeom prst="rect">
            <a:avLst/>
          </a:prstGeom>
          <a:solidFill>
            <a:srgbClr val="0E9488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67512" y="434340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/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286000" y="4480560"/>
            <a:ext cx="566928" cy="292608"/>
          </a:xfrm>
          <a:prstGeom prst="rect">
            <a:avLst/>
          </a:prstGeom>
          <a:solidFill>
            <a:srgbClr val="0E9488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2286000" y="448056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t/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990088" y="434340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/>
            </a:r>
          </a:p>
        </p:txBody>
      </p:sp>
      <p:sp>
        <p:nvSpPr>
          <p:cNvPr id="42" name="Text 40"/>
          <p:cNvSpPr/>
          <p:nvPr/>
        </p:nvSpPr>
        <p:spPr>
          <a:xfrm>
            <a:off x="3886200" y="4343400"/>
            <a:ext cx="7616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/>
            </a:r>
          </a:p>
        </p:txBody>
      </p:sp>
      <p:sp>
        <p:nvSpPr>
          <p:cNvPr id="43" name="Shape 41"/>
          <p:cNvSpPr/>
          <p:nvPr/>
        </p:nvSpPr>
        <p:spPr>
          <a:xfrm>
            <a:off x="502920" y="4983480"/>
            <a:ext cx="11183112" cy="566928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502920" y="4983480"/>
            <a:ext cx="54864" cy="56692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67512" y="4983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/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286000" y="5120640"/>
            <a:ext cx="566928" cy="29260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2286000" y="512064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t/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990088" y="498348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/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886200" y="4983480"/>
            <a:ext cx="7616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t/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3 · 오늘의 목표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3 — 무엇을 배우고 무엇을 만드는가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411480" cy="41148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2801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 목표·실습 목표·사용 파일·성공 기준을 시작 전에 못 박아 둡니다.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Agentic Security 심화 · Day 3 · 목표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Malgun Gothic"/>
              </a:rPr>
              <a:t>3</a:t>
            </a:r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5490972" cy="1956816"/>
          </a:xfrm>
          <a:prstGeom prst="rect">
            <a:avLst/>
          </a:prstGeom>
          <a:solidFill>
            <a:srgbClr val="FFFFFF"/>
          </a:solidFill>
          <a:ln w="19050">
            <a:solidFill>
              <a:srgbClr val="1B9CE5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02920" y="1874520"/>
            <a:ext cx="5490972" cy="457200"/>
          </a:xfrm>
          <a:prstGeom prst="rect">
            <a:avLst/>
          </a:prstGeom>
          <a:solidFill>
            <a:srgbClr val="1B9CE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" y="1874520"/>
            <a:ext cx="51617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Malgun Gothic"/>
              </a:rPr>
              <a:t>학습 목표 (개념·실습 병행)</a:t>
            </a:r>
          </a:p>
        </p:txBody>
      </p:sp>
      <p:sp>
        <p:nvSpPr>
          <p:cNvPr id="11" name="Text 9"/>
          <p:cNvSpPr/>
          <p:nvPr/>
        </p:nvSpPr>
        <p:spPr>
          <a:xfrm>
            <a:off x="685800" y="2441448"/>
            <a:ext cx="51252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중앙 오케스트레이션 vs 자율 협업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State·Node·Edge·조건부 분기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 루프와 HITL 게이트의 원리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95060" y="1874520"/>
            <a:ext cx="5490972" cy="1956816"/>
          </a:xfrm>
          <a:prstGeom prst="rect">
            <a:avLst/>
          </a:prstGeom>
          <a:solidFill>
            <a:srgbClr val="FFFFFF"/>
          </a:solidFill>
          <a:ln w="19050">
            <a:solidFill>
              <a:srgbClr val="0E9488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195060" y="1874520"/>
            <a:ext cx="5490972" cy="457200"/>
          </a:xfrm>
          <a:prstGeom prst="rect">
            <a:avLst/>
          </a:prstGeom>
          <a:solidFill>
            <a:srgbClr val="0E9488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359652" y="1874520"/>
            <a:ext cx="51617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Malgun Gothic"/>
              </a:rPr>
              <a:t>실습 목표 (실습·산출물 확인)</a:t>
            </a:r>
          </a:p>
        </p:txBody>
      </p:sp>
      <p:sp>
        <p:nvSpPr>
          <p:cNvPr id="15" name="Text 13"/>
          <p:cNvSpPr/>
          <p:nvPr/>
        </p:nvSpPr>
        <p:spPr>
          <a:xfrm>
            <a:off x="6377940" y="2441448"/>
            <a:ext cx="51252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supervisor_graph 전체 실행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Router 분기 직접 개조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--hitl 승인·반려 + audit_log 해부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032504"/>
            <a:ext cx="5490972" cy="1956816"/>
          </a:xfrm>
          <a:prstGeom prst="rect">
            <a:avLst/>
          </a:prstGeom>
          <a:solidFill>
            <a:srgbClr val="FFFFFF"/>
          </a:solidFill>
          <a:ln w="19050">
            <a:solidFill>
              <a:srgbClr val="C2620A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02920" y="4032504"/>
            <a:ext cx="5490972" cy="457200"/>
          </a:xfrm>
          <a:prstGeom prst="rect">
            <a:avLst/>
          </a:prstGeom>
          <a:solidFill>
            <a:srgbClr val="C2620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67512" y="4032504"/>
            <a:ext cx="51617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 파일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4599432"/>
            <a:ext cx="51252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orchestrator/supervisor_graph.py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agents/ (5종)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memory/audit_log.jsonl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95060" y="4032504"/>
            <a:ext cx="5490972" cy="1956816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6B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195060" y="4032504"/>
            <a:ext cx="5490972" cy="457200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359652" y="4032504"/>
            <a:ext cx="51617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성공 기준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77940" y="4599432"/>
            <a:ext cx="51252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router→...→report 노드 흐름 출력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HITL에서 High 이상 발견 시 정지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audit_log에 5W(누가·언제·무엇·왜·결과) 기록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56032"/>
            <a:ext cx="914400" cy="365760"/>
          </a:xfrm>
          <a:prstGeom prst="roundRect">
            <a:avLst/>
          </a:prstGeom>
          <a:solidFill>
            <a:srgbClr val="1262BE"/>
          </a:solidFill>
          <a:ln w="15240">
            <a:solidFill>
              <a:srgbClr val="126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14400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Day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228600"/>
            <a:ext cx="1024128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2600" b="1">
                <a:solidFill>
                  <a:srgbClr val="06224D"/>
                </a:solidFill>
                <a:latin typeface="Malgun Gothic"/>
              </a:defRPr>
            </a:pPr>
            <a:r>
              <a:t>5일 로드맵: 단일 Agent에서 통합 Security PoC까지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713232"/>
            <a:ext cx="1024128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50" b="0">
                <a:solidFill>
                  <a:srgbClr val="5C6E82"/>
                </a:solidFill>
                <a:latin typeface="Malgun Gothic"/>
              </a:defRPr>
            </a:pPr>
            <a:r>
              <a:t>오늘이 전체 과정에서 어디에 위치하는지 먼저 확인합니다.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1572768" y="1033271"/>
            <a:ext cx="1097280" cy="27432"/>
          </a:xfrm>
          <a:prstGeom prst="rect">
            <a:avLst/>
          </a:prstGeom>
          <a:solidFill>
            <a:srgbClr val="009696"/>
          </a:solidFill>
          <a:ln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108813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500" b="0">
                <a:solidFill>
                  <a:srgbClr val="5C6E82"/>
                </a:solidFill>
                <a:latin typeface="Malgun Gothic"/>
              </a:defRPr>
            </a:pPr>
            <a:r>
              <a:t>단일 Agent에서 통합 Security PoC까지 이어지는 하나의 파이프라인입니다.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441448"/>
            <a:ext cx="10607040" cy="0"/>
          </a:xfrm>
          <a:prstGeom prst="line">
            <a:avLst/>
          </a:prstGeom>
          <a:ln w="38100">
            <a:solidFill>
              <a:srgbClr val="D2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85800" y="1783080"/>
            <a:ext cx="1874519" cy="3090672"/>
          </a:xfrm>
          <a:prstGeom prst="roundRect">
            <a:avLst/>
          </a:prstGeom>
          <a:solidFill>
            <a:srgbClr val="F8FCFF"/>
          </a:solidFill>
          <a:ln w="15240">
            <a:solidFill>
              <a:srgbClr val="126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96696" y="1572768"/>
            <a:ext cx="594360" cy="256032"/>
          </a:xfrm>
          <a:prstGeom prst="roundRect">
            <a:avLst/>
          </a:prstGeom>
          <a:solidFill>
            <a:srgbClr val="007878"/>
          </a:solidFill>
          <a:ln w="15240">
            <a:solidFill>
              <a:srgbClr val="00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" y="1609344"/>
            <a:ext cx="59436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완료</a:t>
            </a:r>
          </a:p>
        </p:txBody>
      </p:sp>
      <p:sp>
        <p:nvSpPr>
          <p:cNvPr id="13" name="Oval 12"/>
          <p:cNvSpPr/>
          <p:nvPr/>
        </p:nvSpPr>
        <p:spPr>
          <a:xfrm>
            <a:off x="1362456" y="1938528"/>
            <a:ext cx="530352" cy="53035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26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62456" y="1975104"/>
            <a:ext cx="530352" cy="4663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2000" b="1">
                <a:solidFill>
                  <a:srgbClr val="1262BE"/>
                </a:solidFill>
                <a:latin typeface="Malgun Gothic"/>
              </a:defRPr>
            </a:pPr>
            <a:r>
              <a:t>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251460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300" b="1">
                <a:solidFill>
                  <a:srgbClr val="1262BE"/>
                </a:solidFill>
                <a:latin typeface="Malgun Gothic"/>
              </a:defRPr>
            </a:pPr>
            <a:r>
              <a:t>Day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2779776"/>
            <a:ext cx="1554480" cy="52120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400" b="1">
                <a:solidFill>
                  <a:srgbClr val="06224D"/>
                </a:solidFill>
                <a:latin typeface="Malgun Gothic"/>
              </a:defRPr>
            </a:pPr>
            <a:r>
              <a:t>정책 기반 단일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3401568"/>
            <a:ext cx="1481328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860" b="0">
                <a:solidFill>
                  <a:srgbClr val="5C6E82"/>
                </a:solidFill>
                <a:latin typeface="Malgun Gothic"/>
              </a:defRPr>
            </a:pPr>
            <a:r>
              <a:t>Harness · CLAUDE.md · SAST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087368"/>
            <a:ext cx="1508760" cy="530352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B4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187952"/>
            <a:ext cx="402336" cy="2194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840" b="1">
                <a:solidFill>
                  <a:srgbClr val="007878"/>
                </a:solidFill>
                <a:latin typeface="Malgun Gothic"/>
              </a:defRPr>
            </a:pPr>
            <a:r>
              <a:t>산출물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9304" y="4169663"/>
            <a:ext cx="100584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900" b="1">
                <a:solidFill>
                  <a:srgbClr val="06224D"/>
                </a:solidFill>
                <a:latin typeface="Malgun Gothic"/>
              </a:defRPr>
            </a:pPr>
            <a:r>
              <a:t>lab1_sast.md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53512" y="1783080"/>
            <a:ext cx="1874519" cy="3090672"/>
          </a:xfrm>
          <a:prstGeom prst="roundRect">
            <a:avLst/>
          </a:prstGeom>
          <a:solidFill>
            <a:srgbClr val="F8FCFF"/>
          </a:solidFill>
          <a:ln w="15240"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264408" y="1572768"/>
            <a:ext cx="594360" cy="256032"/>
          </a:xfrm>
          <a:prstGeom prst="roundRect">
            <a:avLst/>
          </a:prstGeom>
          <a:solidFill>
            <a:srgbClr val="007878"/>
          </a:solidFill>
          <a:ln w="15240">
            <a:solidFill>
              <a:srgbClr val="00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64408" y="1609344"/>
            <a:ext cx="59436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완료</a:t>
            </a:r>
          </a:p>
        </p:txBody>
      </p:sp>
      <p:sp>
        <p:nvSpPr>
          <p:cNvPr id="24" name="Oval 23"/>
          <p:cNvSpPr/>
          <p:nvPr/>
        </p:nvSpPr>
        <p:spPr>
          <a:xfrm>
            <a:off x="3630168" y="1938528"/>
            <a:ext cx="530352" cy="53035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30168" y="1975104"/>
            <a:ext cx="530352" cy="4663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2000" b="1">
                <a:solidFill>
                  <a:srgbClr val="009696"/>
                </a:solidFill>
                <a:latin typeface="Malgun Gothic"/>
              </a:defRPr>
            </a:pPr>
            <a:r>
              <a:t>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18104" y="251460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300" b="1">
                <a:solidFill>
                  <a:srgbClr val="009696"/>
                </a:solidFill>
                <a:latin typeface="Malgun Gothic"/>
              </a:defRPr>
            </a:pPr>
            <a:r>
              <a:t>Day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18104" y="2779776"/>
            <a:ext cx="1554480" cy="52120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400" b="1">
                <a:solidFill>
                  <a:srgbClr val="06224D"/>
                </a:solidFill>
                <a:latin typeface="Malgun Gothic"/>
              </a:defRPr>
            </a:pPr>
            <a:r>
              <a:t>MCP 도구화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3401568"/>
            <a:ext cx="1481328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860" b="0">
                <a:solidFill>
                  <a:srgbClr val="5C6E82"/>
                </a:solidFill>
                <a:latin typeface="Malgun Gothic"/>
              </a:defRPr>
            </a:pPr>
            <a:r>
              <a:t>MCP · Tool Calling · Raw JSON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36392" y="4087368"/>
            <a:ext cx="1508760" cy="530352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B4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0" y="4187952"/>
            <a:ext cx="402336" cy="2194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840" b="1">
                <a:solidFill>
                  <a:srgbClr val="007878"/>
                </a:solidFill>
                <a:latin typeface="Malgun Gothic"/>
              </a:defRPr>
            </a:pPr>
            <a:r>
              <a:t>산출물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57016" y="4169663"/>
            <a:ext cx="100584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900" b="1">
                <a:solidFill>
                  <a:srgbClr val="06224D"/>
                </a:solidFill>
                <a:latin typeface="Malgun Gothic"/>
              </a:defRPr>
            </a:pPr>
            <a:r>
              <a:t>lab2_report.md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21224" y="1783080"/>
            <a:ext cx="1874519" cy="3090672"/>
          </a:xfrm>
          <a:prstGeom prst="roundRect">
            <a:avLst/>
          </a:prstGeom>
          <a:solidFill>
            <a:srgbClr val="FFFFFF"/>
          </a:solidFill>
          <a:ln w="30480">
            <a:solidFill>
              <a:srgbClr val="126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532120" y="1572768"/>
            <a:ext cx="594360" cy="256032"/>
          </a:xfrm>
          <a:prstGeom prst="roundRect">
            <a:avLst/>
          </a:prstGeom>
          <a:solidFill>
            <a:srgbClr val="1262BE"/>
          </a:solidFill>
          <a:ln w="15240">
            <a:solidFill>
              <a:srgbClr val="126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32120" y="1609344"/>
            <a:ext cx="59436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현재</a:t>
            </a:r>
          </a:p>
        </p:txBody>
      </p:sp>
      <p:sp>
        <p:nvSpPr>
          <p:cNvPr id="35" name="Oval 34"/>
          <p:cNvSpPr/>
          <p:nvPr/>
        </p:nvSpPr>
        <p:spPr>
          <a:xfrm>
            <a:off x="5897880" y="1938528"/>
            <a:ext cx="530352" cy="530352"/>
          </a:xfrm>
          <a:prstGeom prst="ellipse">
            <a:avLst/>
          </a:prstGeom>
          <a:solidFill>
            <a:srgbClr val="EBF4FF"/>
          </a:solidFill>
          <a:ln w="16510">
            <a:solidFill>
              <a:srgbClr val="126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97880" y="1975104"/>
            <a:ext cx="530352" cy="4663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2000" b="1">
                <a:solidFill>
                  <a:srgbClr val="1262BE"/>
                </a:solidFill>
                <a:latin typeface="Malgun Gothic"/>
              </a:defRPr>
            </a:pPr>
            <a:r>
              <a:t>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85816" y="251460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300" b="1">
                <a:solidFill>
                  <a:srgbClr val="1262BE"/>
                </a:solidFill>
                <a:latin typeface="Malgun Gothic"/>
              </a:defRPr>
            </a:pPr>
            <a:r>
              <a:t>Day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85816" y="2779776"/>
            <a:ext cx="1554480" cy="52120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400" b="1">
                <a:solidFill>
                  <a:srgbClr val="06224D"/>
                </a:solidFill>
                <a:latin typeface="Malgun Gothic"/>
              </a:defRPr>
            </a:pPr>
            <a:r>
              <a:t>Supervisor 조율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22392" y="3401568"/>
            <a:ext cx="1481328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860" b="0">
                <a:solidFill>
                  <a:srgbClr val="5C6E82"/>
                </a:solidFill>
                <a:latin typeface="Malgun Gothic"/>
              </a:defRPr>
            </a:pPr>
            <a:r>
              <a:t>Supervisor · State · HITL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04104" y="4087368"/>
            <a:ext cx="1508760" cy="530352"/>
          </a:xfrm>
          <a:prstGeom prst="roundRect">
            <a:avLst/>
          </a:prstGeom>
          <a:solidFill>
            <a:srgbClr val="E1F8F8"/>
          </a:solidFill>
          <a:ln w="15240">
            <a:solidFill>
              <a:srgbClr val="B4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68112" y="4187952"/>
            <a:ext cx="402336" cy="2194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840" b="1">
                <a:solidFill>
                  <a:srgbClr val="007878"/>
                </a:solidFill>
                <a:latin typeface="Malgun Gothic"/>
              </a:defRPr>
            </a:pPr>
            <a:r>
              <a:t>산출물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24728" y="4169663"/>
            <a:ext cx="100584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900" b="1">
                <a:solidFill>
                  <a:srgbClr val="06224D"/>
                </a:solidFill>
                <a:latin typeface="Malgun Gothic"/>
              </a:defRPr>
            </a:pPr>
            <a:r>
              <a:t>lab3_report.md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88936" y="1783080"/>
            <a:ext cx="1874519" cy="3090672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799831" y="1572768"/>
            <a:ext cx="594360" cy="256032"/>
          </a:xfrm>
          <a:prstGeom prst="roundRect">
            <a:avLst/>
          </a:prstGeom>
          <a:solidFill>
            <a:srgbClr val="96A0AE"/>
          </a:solidFill>
          <a:ln w="15240">
            <a:solidFill>
              <a:srgbClr val="96A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99831" y="1609344"/>
            <a:ext cx="59436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예정</a:t>
            </a:r>
          </a:p>
        </p:txBody>
      </p:sp>
      <p:sp>
        <p:nvSpPr>
          <p:cNvPr id="46" name="Oval 45"/>
          <p:cNvSpPr/>
          <p:nvPr/>
        </p:nvSpPr>
        <p:spPr>
          <a:xfrm>
            <a:off x="8165592" y="1938528"/>
            <a:ext cx="530352" cy="53035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65592" y="1975104"/>
            <a:ext cx="530352" cy="4663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2000" b="1">
                <a:solidFill>
                  <a:srgbClr val="D2DCE8"/>
                </a:solidFill>
                <a:latin typeface="Malgun Gothic"/>
              </a:defRPr>
            </a:pPr>
            <a:r>
              <a:t>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53527" y="251460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300" b="1">
                <a:solidFill>
                  <a:srgbClr val="D2DCE8"/>
                </a:solidFill>
                <a:latin typeface="Malgun Gothic"/>
              </a:defRPr>
            </a:pPr>
            <a:r>
              <a:t>Day 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53527" y="2779776"/>
            <a:ext cx="1554480" cy="52120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400" b="1">
                <a:solidFill>
                  <a:srgbClr val="06224D"/>
                </a:solidFill>
                <a:latin typeface="Malgun Gothic"/>
              </a:defRPr>
            </a:pPr>
            <a:r>
              <a:t>Threat Intelligence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90104" y="3401568"/>
            <a:ext cx="1481328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860" b="0">
                <a:solidFill>
                  <a:srgbClr val="5C6E82"/>
                </a:solidFill>
                <a:latin typeface="Malgun Gothic"/>
              </a:defRPr>
            </a:pPr>
            <a:r>
              <a:t>CVE · KEV · EPSS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671815" y="4087368"/>
            <a:ext cx="1508760" cy="530352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B4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35823" y="4187952"/>
            <a:ext cx="402336" cy="2194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840" b="1">
                <a:solidFill>
                  <a:srgbClr val="007878"/>
                </a:solidFill>
                <a:latin typeface="Malgun Gothic"/>
              </a:defRPr>
            </a:pPr>
            <a:r>
              <a:t>산출물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92440" y="4169663"/>
            <a:ext cx="100584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900" b="1">
                <a:solidFill>
                  <a:srgbClr val="06224D"/>
                </a:solidFill>
                <a:latin typeface="Malgun Gothic"/>
              </a:defRPr>
            </a:pPr>
            <a:r>
              <a:t>risk_score_table.md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756648" y="1783080"/>
            <a:ext cx="1874519" cy="3090672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0067544" y="1572768"/>
            <a:ext cx="594360" cy="256032"/>
          </a:xfrm>
          <a:prstGeom prst="roundRect">
            <a:avLst/>
          </a:prstGeom>
          <a:solidFill>
            <a:srgbClr val="96A0AE"/>
          </a:solidFill>
          <a:ln w="15240">
            <a:solidFill>
              <a:srgbClr val="96A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67544" y="1609344"/>
            <a:ext cx="59436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예정</a:t>
            </a:r>
          </a:p>
        </p:txBody>
      </p:sp>
      <p:sp>
        <p:nvSpPr>
          <p:cNvPr id="57" name="Oval 56"/>
          <p:cNvSpPr/>
          <p:nvPr/>
        </p:nvSpPr>
        <p:spPr>
          <a:xfrm>
            <a:off x="10433304" y="1938528"/>
            <a:ext cx="530352" cy="53035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433304" y="1975104"/>
            <a:ext cx="530352" cy="4663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2000" b="1">
                <a:solidFill>
                  <a:srgbClr val="D2DCE8"/>
                </a:solidFill>
                <a:latin typeface="Malgun Gothic"/>
              </a:defRPr>
            </a:pPr>
            <a:r>
              <a:t>🏁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21240" y="251460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300" b="1">
                <a:solidFill>
                  <a:srgbClr val="D2DCE8"/>
                </a:solidFill>
                <a:latin typeface="Malgun Gothic"/>
              </a:defRPr>
            </a:pPr>
            <a:r>
              <a:t>Day 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21240" y="2779776"/>
            <a:ext cx="1554480" cy="52120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400" b="1">
                <a:solidFill>
                  <a:srgbClr val="06224D"/>
                </a:solidFill>
                <a:latin typeface="Malgun Gothic"/>
              </a:defRPr>
            </a:pPr>
            <a:r>
              <a:t>통합 Security PoC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57816" y="3401568"/>
            <a:ext cx="1481328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860" b="0">
                <a:solidFill>
                  <a:srgbClr val="5C6E82"/>
                </a:solidFill>
                <a:latin typeface="Malgun Gothic"/>
              </a:defRPr>
            </a:pPr>
            <a:r>
              <a:t>Final Report · Remediation · Audit Trail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939528" y="4087368"/>
            <a:ext cx="1508760" cy="530352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B4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003536" y="4187952"/>
            <a:ext cx="402336" cy="2194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840" b="1">
                <a:solidFill>
                  <a:srgbClr val="007878"/>
                </a:solidFill>
                <a:latin typeface="Malgun Gothic"/>
              </a:defRPr>
            </a:pPr>
            <a:r>
              <a:t>산출물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360152" y="4169663"/>
            <a:ext cx="100584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900" b="1">
                <a:solidFill>
                  <a:srgbClr val="06224D"/>
                </a:solidFill>
                <a:latin typeface="Malgun Gothic"/>
              </a:defRPr>
            </a:pPr>
            <a:r>
              <a:t>final_report.md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51560" y="5550408"/>
            <a:ext cx="1005840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4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417320" y="5650992"/>
            <a:ext cx="256032" cy="256032"/>
          </a:xfrm>
          <a:prstGeom prst="ellipse">
            <a:avLst/>
          </a:prstGeom>
          <a:solidFill>
            <a:srgbClr val="E1F8F8"/>
          </a:solidFill>
          <a:ln w="16510"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417320" y="5687568"/>
            <a:ext cx="256032" cy="1920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00" b="1">
                <a:solidFill>
                  <a:srgbClr val="009696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728216" y="5650992"/>
            <a:ext cx="123444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1">
                <a:solidFill>
                  <a:srgbClr val="06224D"/>
                </a:solidFill>
                <a:latin typeface="Malgun Gothic"/>
              </a:defRPr>
            </a:pPr>
            <a:r>
              <a:t>개념 설명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670048" y="5660136"/>
            <a:ext cx="1828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5C6E82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70" name="Oval 69"/>
          <p:cNvSpPr/>
          <p:nvPr/>
        </p:nvSpPr>
        <p:spPr>
          <a:xfrm>
            <a:off x="3182112" y="5650992"/>
            <a:ext cx="256032" cy="256032"/>
          </a:xfrm>
          <a:prstGeom prst="ellipse">
            <a:avLst/>
          </a:prstGeom>
          <a:solidFill>
            <a:srgbClr val="E1F8F8"/>
          </a:solidFill>
          <a:ln w="16510"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182112" y="5687568"/>
            <a:ext cx="256032" cy="1920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00" b="1">
                <a:solidFill>
                  <a:srgbClr val="009696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93008" y="5650992"/>
            <a:ext cx="123444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1">
                <a:solidFill>
                  <a:srgbClr val="06224D"/>
                </a:solidFill>
                <a:latin typeface="Malgun Gothic"/>
              </a:defRPr>
            </a:pPr>
            <a:r>
              <a:t>파일 확인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434840" y="5660136"/>
            <a:ext cx="1828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5C6E82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74" name="Oval 73"/>
          <p:cNvSpPr/>
          <p:nvPr/>
        </p:nvSpPr>
        <p:spPr>
          <a:xfrm>
            <a:off x="4828032" y="5650992"/>
            <a:ext cx="256032" cy="256032"/>
          </a:xfrm>
          <a:prstGeom prst="ellipse">
            <a:avLst/>
          </a:prstGeom>
          <a:solidFill>
            <a:srgbClr val="E1F8F8"/>
          </a:solidFill>
          <a:ln w="16510"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828032" y="5687568"/>
            <a:ext cx="256032" cy="1920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00" b="1">
                <a:solidFill>
                  <a:srgbClr val="009696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138928" y="5650992"/>
            <a:ext cx="123444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1">
                <a:solidFill>
                  <a:srgbClr val="06224D"/>
                </a:solidFill>
                <a:latin typeface="Malgun Gothic"/>
              </a:defRPr>
            </a:pPr>
            <a:r>
              <a:t>직접 실행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080760" y="5660136"/>
            <a:ext cx="1828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5C6E82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78" name="Oval 77"/>
          <p:cNvSpPr/>
          <p:nvPr/>
        </p:nvSpPr>
        <p:spPr>
          <a:xfrm>
            <a:off x="6419088" y="5650992"/>
            <a:ext cx="256032" cy="256032"/>
          </a:xfrm>
          <a:prstGeom prst="ellipse">
            <a:avLst/>
          </a:prstGeom>
          <a:solidFill>
            <a:srgbClr val="E1F8F8"/>
          </a:solidFill>
          <a:ln w="16510"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19088" y="5687568"/>
            <a:ext cx="256032" cy="1920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00" b="1">
                <a:solidFill>
                  <a:srgbClr val="009696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729983" y="5650992"/>
            <a:ext cx="123444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1">
                <a:solidFill>
                  <a:srgbClr val="06224D"/>
                </a:solidFill>
                <a:latin typeface="Malgun Gothic"/>
              </a:defRPr>
            </a:pPr>
            <a:r>
              <a:t>산출물 확인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671816" y="5660136"/>
            <a:ext cx="1828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5C6E82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82" name="Oval 81"/>
          <p:cNvSpPr/>
          <p:nvPr/>
        </p:nvSpPr>
        <p:spPr>
          <a:xfrm>
            <a:off x="8138160" y="5650992"/>
            <a:ext cx="256032" cy="256032"/>
          </a:xfrm>
          <a:prstGeom prst="ellipse">
            <a:avLst/>
          </a:prstGeom>
          <a:solidFill>
            <a:srgbClr val="E1F8F8"/>
          </a:solidFill>
          <a:ln w="16510"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138160" y="5687568"/>
            <a:ext cx="256032" cy="1920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00" b="1">
                <a:solidFill>
                  <a:srgbClr val="009696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49056" y="5650992"/>
            <a:ext cx="123444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1">
                <a:solidFill>
                  <a:srgbClr val="06224D"/>
                </a:solidFill>
                <a:latin typeface="Malgun Gothic"/>
              </a:defRPr>
            </a:pPr>
            <a:r>
              <a:t>관찰 정리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390888" y="5660136"/>
            <a:ext cx="1828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00" b="0">
                <a:solidFill>
                  <a:srgbClr val="5C6E82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86" name="Oval 85"/>
          <p:cNvSpPr/>
          <p:nvPr/>
        </p:nvSpPr>
        <p:spPr>
          <a:xfrm>
            <a:off x="9829800" y="5650992"/>
            <a:ext cx="256032" cy="256032"/>
          </a:xfrm>
          <a:prstGeom prst="ellipse">
            <a:avLst/>
          </a:prstGeom>
          <a:solidFill>
            <a:srgbClr val="E1F8F8"/>
          </a:solidFill>
          <a:ln w="16510"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829800" y="5687568"/>
            <a:ext cx="256032" cy="1920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00" b="1">
                <a:solidFill>
                  <a:srgbClr val="009696"/>
                </a:solidFill>
                <a:latin typeface="Malgun Gothic"/>
              </a:defRPr>
            </a:pPr>
            <a:r>
              <a:t>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140696" y="5650992"/>
            <a:ext cx="123444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100" b="1">
                <a:solidFill>
                  <a:srgbClr val="06224D"/>
                </a:solidFill>
                <a:latin typeface="Malgun Gothic"/>
              </a:defRPr>
            </a:pPr>
            <a:r>
              <a:t>다음 연결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56032"/>
            <a:ext cx="914400" cy="365760"/>
          </a:xfrm>
          <a:prstGeom prst="roundRect">
            <a:avLst/>
          </a:prstGeom>
          <a:solidFill>
            <a:srgbClr val="1262BE"/>
          </a:solidFill>
          <a:ln w="15240">
            <a:solidFill>
              <a:srgbClr val="126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14400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Day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228600"/>
            <a:ext cx="1024128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2600" b="1">
                <a:solidFill>
                  <a:srgbClr val="06224D"/>
                </a:solidFill>
                <a:latin typeface="Malgun Gothic"/>
              </a:defRPr>
            </a:pPr>
            <a:r>
              <a:t>개념 + 실습 병행 운영 패턴 (09:00–17:00)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713232"/>
            <a:ext cx="1024128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50" b="0">
                <a:solidFill>
                  <a:srgbClr val="5C6E82"/>
                </a:solidFill>
                <a:latin typeface="Malgun Gothic"/>
              </a:defRPr>
            </a:pPr>
            <a:r>
              <a:t>개념을 설명하고 바로 파일 확인·실행·산출물 검증으로 이어갑니다.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1572768" y="1033271"/>
            <a:ext cx="1097280" cy="27432"/>
          </a:xfrm>
          <a:prstGeom prst="rect">
            <a:avLst/>
          </a:prstGeom>
          <a:solidFill>
            <a:srgbClr val="009696"/>
          </a:solidFill>
          <a:ln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07008"/>
            <a:ext cx="10972800" cy="3017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400" b="0">
                <a:solidFill>
                  <a:srgbClr val="5C6E82"/>
                </a:solidFill>
                <a:latin typeface="Malgun Gothic"/>
              </a:defRPr>
            </a:pPr>
            <a:r>
              <a:t>수업은 이론을 몰아서 듣는 방식이 아니라, 작은 학습 루프를 하루에 3회 이상 반복합니다.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1810512"/>
            <a:ext cx="310896" cy="310896"/>
          </a:xfrm>
          <a:prstGeom prst="ellipse">
            <a:avLst/>
          </a:prstGeom>
          <a:solidFill>
            <a:srgbClr val="009696"/>
          </a:solidFill>
          <a:ln w="16510"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47088"/>
            <a:ext cx="310896" cy="2468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300" b="1">
                <a:solidFill>
                  <a:srgbClr val="009696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267712"/>
            <a:ext cx="1298448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4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2450591"/>
            <a:ext cx="1152144" cy="2194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50" b="1">
                <a:solidFill>
                  <a:srgbClr val="06224D"/>
                </a:solidFill>
                <a:latin typeface="Malgun Gothic"/>
              </a:defRPr>
            </a:pPr>
            <a:r>
              <a:t>개념 설명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752344"/>
            <a:ext cx="1115568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919" b="0">
                <a:solidFill>
                  <a:srgbClr val="5C6E82"/>
                </a:solidFill>
                <a:latin typeface="Malgun Gothic"/>
              </a:defRPr>
            </a:pPr>
            <a:r>
              <a:t>20–40분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819656" y="2688336"/>
            <a:ext cx="466344" cy="0"/>
          </a:xfrm>
          <a:prstGeom prst="line">
            <a:avLst/>
          </a:prstGeom>
          <a:ln w="25400">
            <a:solidFill>
              <a:srgbClr val="00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788920" y="1810512"/>
            <a:ext cx="310896" cy="310896"/>
          </a:xfrm>
          <a:prstGeom prst="ellipse">
            <a:avLst/>
          </a:prstGeom>
          <a:solidFill>
            <a:srgbClr val="009696"/>
          </a:solidFill>
          <a:ln w="16510"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1847088"/>
            <a:ext cx="310896" cy="2468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300" b="1">
                <a:solidFill>
                  <a:srgbClr val="009696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39" y="2267712"/>
            <a:ext cx="1298448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4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50591" y="2450591"/>
            <a:ext cx="1152144" cy="2194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50" b="1">
                <a:solidFill>
                  <a:srgbClr val="06224D"/>
                </a:solidFill>
                <a:latin typeface="Malgun Gothic"/>
              </a:defRPr>
            </a:pPr>
            <a:r>
              <a:t>파일 위치 확인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79" y="2752344"/>
            <a:ext cx="1115568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919" b="0">
                <a:solidFill>
                  <a:srgbClr val="5C6E82"/>
                </a:solidFill>
                <a:latin typeface="Malgun Gothic"/>
              </a:defRPr>
            </a:pPr>
            <a:r>
              <a:t>5–10분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94175" y="2688336"/>
            <a:ext cx="466345" cy="0"/>
          </a:xfrm>
          <a:prstGeom prst="line">
            <a:avLst/>
          </a:prstGeom>
          <a:ln w="25400">
            <a:solidFill>
              <a:srgbClr val="00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4663440" y="1810512"/>
            <a:ext cx="310896" cy="310896"/>
          </a:xfrm>
          <a:prstGeom prst="ellipse">
            <a:avLst/>
          </a:prstGeom>
          <a:solidFill>
            <a:srgbClr val="009696"/>
          </a:solidFill>
          <a:ln w="16510"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1847088"/>
            <a:ext cx="310896" cy="2468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300" b="1">
                <a:solidFill>
                  <a:srgbClr val="009696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59" y="2267712"/>
            <a:ext cx="1298448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4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25112" y="2450591"/>
            <a:ext cx="1152144" cy="2194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50" b="1">
                <a:solidFill>
                  <a:srgbClr val="06224D"/>
                </a:solidFill>
                <a:latin typeface="Malgun Gothic"/>
              </a:defRPr>
            </a:pPr>
            <a:r>
              <a:t>직접 실행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399" y="2752344"/>
            <a:ext cx="1115568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919" b="0">
                <a:solidFill>
                  <a:srgbClr val="5C6E82"/>
                </a:solidFill>
                <a:latin typeface="Malgun Gothic"/>
              </a:defRPr>
            </a:pPr>
            <a:r>
              <a:t>20–40분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568696" y="2688336"/>
            <a:ext cx="466344" cy="0"/>
          </a:xfrm>
          <a:prstGeom prst="line">
            <a:avLst/>
          </a:prstGeom>
          <a:ln w="25400">
            <a:solidFill>
              <a:srgbClr val="00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537959" y="1810512"/>
            <a:ext cx="310896" cy="310896"/>
          </a:xfrm>
          <a:prstGeom prst="ellipse">
            <a:avLst/>
          </a:prstGeom>
          <a:solidFill>
            <a:srgbClr val="009696"/>
          </a:solidFill>
          <a:ln w="16510"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1847088"/>
            <a:ext cx="310896" cy="2468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300" b="1">
                <a:solidFill>
                  <a:srgbClr val="009696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79" y="2267712"/>
            <a:ext cx="1298448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4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9631" y="2450591"/>
            <a:ext cx="1152144" cy="2194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50" b="1">
                <a:solidFill>
                  <a:srgbClr val="06224D"/>
                </a:solidFill>
                <a:latin typeface="Malgun Gothic"/>
              </a:defRPr>
            </a:pPr>
            <a:r>
              <a:t>산출물 확인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19" y="2752344"/>
            <a:ext cx="1115568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919" b="0">
                <a:solidFill>
                  <a:srgbClr val="5C6E82"/>
                </a:solidFill>
                <a:latin typeface="Malgun Gothic"/>
              </a:defRPr>
            </a:pPr>
            <a:r>
              <a:t>10–20분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443215" y="2688336"/>
            <a:ext cx="466344" cy="0"/>
          </a:xfrm>
          <a:prstGeom prst="line">
            <a:avLst/>
          </a:prstGeom>
          <a:ln w="25400">
            <a:solidFill>
              <a:srgbClr val="00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412480" y="1810512"/>
            <a:ext cx="310896" cy="310896"/>
          </a:xfrm>
          <a:prstGeom prst="ellipse">
            <a:avLst/>
          </a:prstGeom>
          <a:solidFill>
            <a:srgbClr val="009696"/>
          </a:solidFill>
          <a:ln w="16510"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1847088"/>
            <a:ext cx="310896" cy="2468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300" b="1">
                <a:solidFill>
                  <a:srgbClr val="009696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01000" y="2267712"/>
            <a:ext cx="1298448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4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74152" y="2450591"/>
            <a:ext cx="1152144" cy="2194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50" b="1">
                <a:solidFill>
                  <a:srgbClr val="06224D"/>
                </a:solidFill>
                <a:latin typeface="Malgun Gothic"/>
              </a:defRPr>
            </a:pPr>
            <a:r>
              <a:t>관찰 포인트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2752344"/>
            <a:ext cx="1115568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919" b="0">
                <a:solidFill>
                  <a:srgbClr val="5C6E82"/>
                </a:solidFill>
                <a:latin typeface="Malgun Gothic"/>
              </a:defRPr>
            </a:pPr>
            <a:r>
              <a:t>정리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317736" y="2688336"/>
            <a:ext cx="466344" cy="0"/>
          </a:xfrm>
          <a:prstGeom prst="line">
            <a:avLst/>
          </a:prstGeom>
          <a:ln w="25400">
            <a:solidFill>
              <a:srgbClr val="00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10287000" y="1810512"/>
            <a:ext cx="310896" cy="310896"/>
          </a:xfrm>
          <a:prstGeom prst="ellipse">
            <a:avLst/>
          </a:prstGeom>
          <a:solidFill>
            <a:srgbClr val="009696"/>
          </a:solidFill>
          <a:ln w="16510"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7000" y="1847088"/>
            <a:ext cx="310896" cy="2468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300" b="1">
                <a:solidFill>
                  <a:srgbClr val="009696"/>
                </a:solidFill>
                <a:latin typeface="Malgun Gothic"/>
              </a:defRPr>
            </a:pPr>
            <a:r>
              <a:t>6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875520" y="2267712"/>
            <a:ext cx="1298448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4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48672" y="2450591"/>
            <a:ext cx="1152144" cy="2194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50" b="1">
                <a:solidFill>
                  <a:srgbClr val="06224D"/>
                </a:solidFill>
                <a:latin typeface="Malgun Gothic"/>
              </a:defRPr>
            </a:pPr>
            <a:r>
              <a:t>다음 개념 연결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66960" y="2752344"/>
            <a:ext cx="1115568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919" b="0">
                <a:solidFill>
                  <a:srgbClr val="5C6E82"/>
                </a:solidFill>
                <a:latin typeface="Malgun Gothic"/>
              </a:defRPr>
            </a:pPr>
            <a:r>
              <a:t>이동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15968" y="3364992"/>
            <a:ext cx="3429000" cy="365760"/>
          </a:xfrm>
          <a:prstGeom prst="roundRect">
            <a:avLst/>
          </a:prstGeom>
          <a:solidFill>
            <a:srgbClr val="007878"/>
          </a:solidFill>
          <a:ln w="15240">
            <a:solidFill>
              <a:srgbClr val="00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15968" y="3401568"/>
            <a:ext cx="3429000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매일 최소 3회 이상 직접 실행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" y="4005072"/>
            <a:ext cx="1083564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4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68680" y="4224528"/>
            <a:ext cx="292608" cy="292608"/>
          </a:xfrm>
          <a:prstGeom prst="ellipse">
            <a:avLst/>
          </a:prstGeom>
          <a:solidFill>
            <a:srgbClr val="E1F8F8"/>
          </a:solidFill>
          <a:ln w="16510">
            <a:solidFill>
              <a:srgbClr val="126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" y="4261104"/>
            <a:ext cx="292608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000" b="1">
                <a:solidFill>
                  <a:srgbClr val="1262BE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34440" y="4197096"/>
            <a:ext cx="146304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050" b="1">
                <a:solidFill>
                  <a:srgbClr val="1262BE"/>
                </a:solidFill>
                <a:latin typeface="Malgun Gothic"/>
              </a:defRPr>
            </a:pPr>
            <a:r>
              <a:t>개념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4553712"/>
            <a:ext cx="1783080" cy="7132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00" b="1">
                <a:solidFill>
                  <a:srgbClr val="06224D"/>
                </a:solidFill>
                <a:latin typeface="Malgun Gothic"/>
              </a:defRPr>
            </a:pPr>
            <a:r>
              <a:t>Supervisor/State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97480" y="4800600"/>
            <a:ext cx="201168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600" b="0">
                <a:solidFill>
                  <a:srgbClr val="5C6E82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52" name="Oval 51"/>
          <p:cNvSpPr/>
          <p:nvPr/>
        </p:nvSpPr>
        <p:spPr>
          <a:xfrm>
            <a:off x="2916936" y="4224528"/>
            <a:ext cx="292608" cy="292608"/>
          </a:xfrm>
          <a:prstGeom prst="ellipse">
            <a:avLst/>
          </a:prstGeom>
          <a:solidFill>
            <a:srgbClr val="E1F8F8"/>
          </a:solidFill>
          <a:ln w="16510">
            <a:solidFill>
              <a:srgbClr val="126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916936" y="4261104"/>
            <a:ext cx="292608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000" b="1">
                <a:solidFill>
                  <a:srgbClr val="1262BE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82696" y="4197096"/>
            <a:ext cx="146304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050" b="1">
                <a:solidFill>
                  <a:srgbClr val="1262BE"/>
                </a:solidFill>
                <a:latin typeface="Malgun Gothic"/>
              </a:defRPr>
            </a:pPr>
            <a:r>
              <a:t>파일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16936" y="4553712"/>
            <a:ext cx="1783080" cy="7132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00" b="1">
                <a:solidFill>
                  <a:srgbClr val="06224D"/>
                </a:solidFill>
                <a:latin typeface="Malgun Gothic"/>
              </a:defRPr>
            </a:pPr>
            <a:r>
              <a:t>supervisor_graph.py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45736" y="4800600"/>
            <a:ext cx="201168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600" b="0">
                <a:solidFill>
                  <a:srgbClr val="5C6E82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57" name="Oval 56"/>
          <p:cNvSpPr/>
          <p:nvPr/>
        </p:nvSpPr>
        <p:spPr>
          <a:xfrm>
            <a:off x="4965192" y="4224528"/>
            <a:ext cx="292608" cy="292608"/>
          </a:xfrm>
          <a:prstGeom prst="ellipse">
            <a:avLst/>
          </a:prstGeom>
          <a:solidFill>
            <a:srgbClr val="E1F8F8"/>
          </a:solidFill>
          <a:ln w="16510">
            <a:solidFill>
              <a:srgbClr val="126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965192" y="4261104"/>
            <a:ext cx="292608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000" b="1">
                <a:solidFill>
                  <a:srgbClr val="1262BE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30952" y="4197096"/>
            <a:ext cx="146304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050" b="1">
                <a:solidFill>
                  <a:srgbClr val="1262BE"/>
                </a:solidFill>
                <a:latin typeface="Malgun Gothic"/>
              </a:defRPr>
            </a:pPr>
            <a:r>
              <a:t>실행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65192" y="4553712"/>
            <a:ext cx="1783080" cy="7132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00" b="1">
                <a:solidFill>
                  <a:srgbClr val="06224D"/>
                </a:solidFill>
                <a:latin typeface="Malgun Gothic"/>
              </a:defRPr>
            </a:pPr>
            <a:r>
              <a:t>기본 그래프 + HITL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93992" y="4800600"/>
            <a:ext cx="201168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600" b="0">
                <a:solidFill>
                  <a:srgbClr val="5C6E82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62" name="Oval 61"/>
          <p:cNvSpPr/>
          <p:nvPr/>
        </p:nvSpPr>
        <p:spPr>
          <a:xfrm>
            <a:off x="7013448" y="4224528"/>
            <a:ext cx="292608" cy="292608"/>
          </a:xfrm>
          <a:prstGeom prst="ellipse">
            <a:avLst/>
          </a:prstGeom>
          <a:solidFill>
            <a:srgbClr val="E1F8F8"/>
          </a:solidFill>
          <a:ln w="16510">
            <a:solidFill>
              <a:srgbClr val="126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013448" y="4261104"/>
            <a:ext cx="292608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000" b="1">
                <a:solidFill>
                  <a:srgbClr val="1262BE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79208" y="4197096"/>
            <a:ext cx="146304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050" b="1">
                <a:solidFill>
                  <a:srgbClr val="1262BE"/>
                </a:solidFill>
                <a:latin typeface="Malgun Gothic"/>
              </a:defRPr>
            </a:pPr>
            <a:r>
              <a:t>결과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13448" y="4553712"/>
            <a:ext cx="1783080" cy="7132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00" b="1">
                <a:solidFill>
                  <a:srgbClr val="06224D"/>
                </a:solidFill>
                <a:latin typeface="Malgun Gothic"/>
              </a:defRPr>
            </a:pPr>
            <a:r>
              <a:t>Audit 5W 확인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842248" y="4800600"/>
            <a:ext cx="201168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600" b="0">
                <a:solidFill>
                  <a:srgbClr val="5C6E82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67" name="Oval 66"/>
          <p:cNvSpPr/>
          <p:nvPr/>
        </p:nvSpPr>
        <p:spPr>
          <a:xfrm>
            <a:off x="9061704" y="4224528"/>
            <a:ext cx="292608" cy="292608"/>
          </a:xfrm>
          <a:prstGeom prst="ellipse">
            <a:avLst/>
          </a:prstGeom>
          <a:solidFill>
            <a:srgbClr val="E1F8F8"/>
          </a:solidFill>
          <a:ln w="16510">
            <a:solidFill>
              <a:srgbClr val="126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061704" y="4261104"/>
            <a:ext cx="292608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000" b="1">
                <a:solidFill>
                  <a:srgbClr val="1262BE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427464" y="4197096"/>
            <a:ext cx="146304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050" b="1">
                <a:solidFill>
                  <a:srgbClr val="1262BE"/>
                </a:solidFill>
                <a:latin typeface="Malgun Gothic"/>
              </a:defRPr>
            </a:pPr>
            <a:r>
              <a:t>연결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61704" y="4553712"/>
            <a:ext cx="1783080" cy="7132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00" b="1">
                <a:solidFill>
                  <a:srgbClr val="06224D"/>
                </a:solidFill>
                <a:latin typeface="Malgun Gothic"/>
              </a:defRPr>
            </a:pPr>
            <a:r>
              <a:t>Threat Context로 확장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8680" y="5669280"/>
            <a:ext cx="102412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080" b="0">
                <a:solidFill>
                  <a:srgbClr val="5C6E82"/>
                </a:solidFill>
                <a:latin typeface="Malgun Gothic"/>
              </a:defRPr>
            </a:pPr>
            <a:r>
              <a:t>운영 메모: DDD 관점: Agent를 도메인 책임 단위로 나누고, State를 통해 책임 경계를 유지한다.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56032"/>
            <a:ext cx="914400" cy="365760"/>
          </a:xfrm>
          <a:prstGeom prst="roundRect">
            <a:avLst/>
          </a:prstGeom>
          <a:solidFill>
            <a:srgbClr val="1262BE"/>
          </a:solidFill>
          <a:ln w="15240">
            <a:solidFill>
              <a:srgbClr val="126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14400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Day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228600"/>
            <a:ext cx="1024128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2600" b="1">
                <a:solidFill>
                  <a:srgbClr val="06224D"/>
                </a:solidFill>
                <a:latin typeface="Malgun Gothic"/>
              </a:defRPr>
            </a:pPr>
            <a:r>
              <a:t>오늘의 자료 구조: PPT → 코드 → 명령 → 산출물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713232"/>
            <a:ext cx="1024128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50" b="0">
                <a:solidFill>
                  <a:srgbClr val="5C6E82"/>
                </a:solidFill>
                <a:latin typeface="Malgun Gothic"/>
              </a:defRPr>
            </a:pPr>
            <a:r>
              <a:t>수강생이 지금 보는 장표가 어떤 파일과 어떤 결과물로 이어지는지 명확히 보여줍니다.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1572768" y="1033271"/>
            <a:ext cx="1097280" cy="27432"/>
          </a:xfrm>
          <a:prstGeom prst="rect">
            <a:avLst/>
          </a:prstGeom>
          <a:solidFill>
            <a:srgbClr val="009696"/>
          </a:solidFill>
          <a:ln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97864"/>
            <a:ext cx="109728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400" b="0">
                <a:solidFill>
                  <a:srgbClr val="5C6E82"/>
                </a:solidFill>
                <a:latin typeface="Malgun Gothic"/>
              </a:defRPr>
            </a:pPr>
            <a:r>
              <a:t>PPT의 개념은 실제 Codespaces 파일·명령어·산출물로 바로 연결되어야 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27632"/>
            <a:ext cx="242316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4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792224"/>
            <a:ext cx="384048" cy="384048"/>
          </a:xfrm>
          <a:prstGeom prst="ellipse">
            <a:avLst/>
          </a:prstGeom>
          <a:solidFill>
            <a:srgbClr val="E1F8F8"/>
          </a:solidFill>
          <a:ln w="16510"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828800"/>
            <a:ext cx="384048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600" b="1">
                <a:solidFill>
                  <a:srgbClr val="009696"/>
                </a:solidFill>
                <a:latin typeface="Malgun Gothic"/>
              </a:defRPr>
            </a:pPr>
            <a:r>
              <a:t>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847088"/>
            <a:ext cx="1691639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400" b="1">
                <a:solidFill>
                  <a:srgbClr val="06224D"/>
                </a:solidFill>
                <a:latin typeface="Malgun Gothic"/>
              </a:defRPr>
            </a:pPr>
            <a:r>
              <a:t>PPT 개념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627632"/>
            <a:ext cx="256032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4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29000" y="1792224"/>
            <a:ext cx="384048" cy="384048"/>
          </a:xfrm>
          <a:prstGeom prst="ellipse">
            <a:avLst/>
          </a:prstGeom>
          <a:solidFill>
            <a:srgbClr val="E1F8F8"/>
          </a:solidFill>
          <a:ln w="16510"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1828800"/>
            <a:ext cx="384048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600" b="1">
                <a:solidFill>
                  <a:srgbClr val="009696"/>
                </a:solidFill>
                <a:latin typeface="Malgun Gothic"/>
              </a:defRPr>
            </a:pPr>
            <a:r>
              <a:t>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1847088"/>
            <a:ext cx="1828799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400" b="1">
                <a:solidFill>
                  <a:srgbClr val="06224D"/>
                </a:solidFill>
                <a:latin typeface="Malgun Gothic"/>
              </a:defRPr>
            </a:pPr>
            <a:r>
              <a:t>관련 파일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627632"/>
            <a:ext cx="274320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4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09360" y="1792224"/>
            <a:ext cx="384048" cy="384048"/>
          </a:xfrm>
          <a:prstGeom prst="ellipse">
            <a:avLst/>
          </a:prstGeom>
          <a:solidFill>
            <a:srgbClr val="E1F8F8"/>
          </a:solidFill>
          <a:ln w="16510"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828800"/>
            <a:ext cx="384048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600" b="1">
                <a:solidFill>
                  <a:srgbClr val="009696"/>
                </a:solidFill>
                <a:latin typeface="Malgun Gothic"/>
              </a:defRPr>
            </a:pPr>
            <a:r>
              <a:t>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1847088"/>
            <a:ext cx="20116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400" b="1">
                <a:solidFill>
                  <a:srgbClr val="06224D"/>
                </a:solidFill>
                <a:latin typeface="Malgun Gothic"/>
              </a:defRPr>
            </a:pPr>
            <a:r>
              <a:t>실행 명령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1627632"/>
            <a:ext cx="242316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4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26880" y="1792224"/>
            <a:ext cx="384048" cy="384048"/>
          </a:xfrm>
          <a:prstGeom prst="ellipse">
            <a:avLst/>
          </a:prstGeom>
          <a:solidFill>
            <a:srgbClr val="E1F8F8"/>
          </a:solidFill>
          <a:ln w="16510"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1828800"/>
            <a:ext cx="384048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600" b="1">
                <a:solidFill>
                  <a:srgbClr val="009696"/>
                </a:solidFill>
                <a:latin typeface="Malgun Gothic"/>
              </a:defRPr>
            </a:pPr>
            <a:r>
              <a:t>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1847088"/>
            <a:ext cx="1691639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400" b="1">
                <a:solidFill>
                  <a:srgbClr val="06224D"/>
                </a:solidFill>
                <a:latin typeface="Malgun Gothic"/>
              </a:defRPr>
            </a:pPr>
            <a:r>
              <a:t>산출물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2331720"/>
            <a:ext cx="192024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600" b="1">
                <a:solidFill>
                  <a:srgbClr val="06224D"/>
                </a:solidFill>
                <a:latin typeface="Malgun Gothic"/>
              </a:defRPr>
            </a:pPr>
            <a:r>
              <a:t>여러 Agent를 조율하는 Supervisor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337560"/>
            <a:ext cx="192024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200" b="0">
                <a:solidFill>
                  <a:srgbClr val="5C6E82"/>
                </a:solidFill>
                <a:latin typeface="Malgun Gothic"/>
              </a:defRPr>
            </a:pPr>
            <a:r>
              <a:t>Supervisor · State · HITL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343400"/>
            <a:ext cx="192024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050" b="0">
                <a:solidFill>
                  <a:srgbClr val="007878"/>
                </a:solidFill>
                <a:latin typeface="Malgun Gothic"/>
              </a:defRPr>
            </a:pPr>
            <a:r>
              <a:t>확장 개념</a:t>
            </a:r>
            <a:br/>
            <a:r>
              <a:t>Sub-Agent, Review Loop, State Graph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93008" y="2267712"/>
            <a:ext cx="2148840" cy="347472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11880" y="2340864"/>
            <a:ext cx="1901952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880" b="0">
                <a:solidFill>
                  <a:srgbClr val="06224D"/>
                </a:solidFill>
                <a:latin typeface="Malgun Gothic"/>
              </a:defRPr>
            </a:pPr>
            <a:r>
              <a:t>orchestrator/supervisor_graph.py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93008" y="2770632"/>
            <a:ext cx="2148840" cy="347472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11880" y="2843784"/>
            <a:ext cx="1901952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880" b="0">
                <a:solidFill>
                  <a:srgbClr val="06224D"/>
                </a:solidFill>
                <a:latin typeface="Malgun Gothic"/>
              </a:defRPr>
            </a:pPr>
            <a:r>
              <a:t>agents/*.py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93008" y="3273552"/>
            <a:ext cx="2148840" cy="347472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11880" y="3346704"/>
            <a:ext cx="1901952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880" b="0">
                <a:solidFill>
                  <a:srgbClr val="06224D"/>
                </a:solidFill>
                <a:latin typeface="Malgun Gothic"/>
              </a:defRPr>
            </a:pPr>
            <a:r>
              <a:t>memory/audit_log.jsonl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82512" y="2267712"/>
            <a:ext cx="2331720" cy="530352"/>
          </a:xfrm>
          <a:prstGeom prst="roundRect">
            <a:avLst/>
          </a:prstGeom>
          <a:solidFill>
            <a:srgbClr val="F8FCFF"/>
          </a:solidFill>
          <a:ln w="1524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3952" y="2340864"/>
            <a:ext cx="214884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720" b="0">
                <a:solidFill>
                  <a:srgbClr val="06224D"/>
                </a:solidFill>
                <a:latin typeface="Malgun Gothic"/>
              </a:defRPr>
            </a:pPr>
            <a:r>
              <a:t>python orchestrator/supervisor_graph.py --target sample_app/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82512" y="3200400"/>
            <a:ext cx="2331720" cy="713232"/>
          </a:xfrm>
          <a:prstGeom prst="roundRect">
            <a:avLst/>
          </a:prstGeom>
          <a:solidFill>
            <a:srgbClr val="F8FCFF"/>
          </a:solidFill>
          <a:ln w="1524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73952" y="3273552"/>
            <a:ext cx="2148840" cy="6217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720" b="0">
                <a:solidFill>
                  <a:srgbClr val="06224D"/>
                </a:solidFill>
                <a:latin typeface="Malgun Gothic"/>
              </a:defRPr>
            </a:pPr>
            <a:r>
              <a:t>python orchestrator/supervisor_graph.py --target sample_app/ --hitl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400032" y="2267712"/>
            <a:ext cx="1920240" cy="347472"/>
          </a:xfrm>
          <a:prstGeom prst="roundRect">
            <a:avLst/>
          </a:prstGeom>
          <a:solidFill>
            <a:srgbClr val="E1F8F8"/>
          </a:solidFill>
          <a:ln w="15240">
            <a:solidFill>
              <a:srgbClr val="D2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28048" y="2340864"/>
            <a:ext cx="1700784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880" b="1">
                <a:solidFill>
                  <a:srgbClr val="06224D"/>
                </a:solidFill>
                <a:latin typeface="Malgun Gothic"/>
              </a:defRPr>
            </a:pPr>
            <a:r>
              <a:t>reports/lab3_report.md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00032" y="2770632"/>
            <a:ext cx="1920240" cy="347472"/>
          </a:xfrm>
          <a:prstGeom prst="roundRect">
            <a:avLst/>
          </a:prstGeom>
          <a:solidFill>
            <a:srgbClr val="E1F8F8"/>
          </a:solidFill>
          <a:ln w="15240">
            <a:solidFill>
              <a:srgbClr val="D2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28048" y="2843784"/>
            <a:ext cx="1700784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880" b="1">
                <a:solidFill>
                  <a:srgbClr val="06224D"/>
                </a:solidFill>
                <a:latin typeface="Malgun Gothic"/>
              </a:defRPr>
            </a:pPr>
            <a:r>
              <a:t>memory/audit_log.jsonl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017520" y="2743200"/>
            <a:ext cx="228600" cy="0"/>
          </a:xfrm>
          <a:prstGeom prst="line">
            <a:avLst/>
          </a:prstGeom>
          <a:ln w="17780">
            <a:solidFill>
              <a:srgbClr val="00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897880" y="2743200"/>
            <a:ext cx="228600" cy="0"/>
          </a:xfrm>
          <a:prstGeom prst="line">
            <a:avLst/>
          </a:prstGeom>
          <a:ln w="17780">
            <a:solidFill>
              <a:srgbClr val="00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961120" y="2743200"/>
            <a:ext cx="210312" cy="0"/>
          </a:xfrm>
          <a:prstGeom prst="line">
            <a:avLst/>
          </a:prstGeom>
          <a:ln w="17780">
            <a:solidFill>
              <a:srgbClr val="00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017520" y="3749039"/>
            <a:ext cx="228600" cy="0"/>
          </a:xfrm>
          <a:prstGeom prst="line">
            <a:avLst/>
          </a:prstGeom>
          <a:ln w="17780">
            <a:solidFill>
              <a:srgbClr val="00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897880" y="3749039"/>
            <a:ext cx="228600" cy="0"/>
          </a:xfrm>
          <a:prstGeom prst="line">
            <a:avLst/>
          </a:prstGeom>
          <a:ln w="17780">
            <a:solidFill>
              <a:srgbClr val="00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961120" y="3749039"/>
            <a:ext cx="210312" cy="0"/>
          </a:xfrm>
          <a:prstGeom prst="line">
            <a:avLst/>
          </a:prstGeom>
          <a:ln w="17780">
            <a:solidFill>
              <a:srgbClr val="00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017520" y="4754880"/>
            <a:ext cx="228600" cy="0"/>
          </a:xfrm>
          <a:prstGeom prst="line">
            <a:avLst/>
          </a:prstGeom>
          <a:ln w="17780">
            <a:solidFill>
              <a:srgbClr val="00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5897880" y="4754880"/>
            <a:ext cx="228600" cy="0"/>
          </a:xfrm>
          <a:prstGeom prst="line">
            <a:avLst/>
          </a:prstGeom>
          <a:ln w="17780">
            <a:solidFill>
              <a:srgbClr val="00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961120" y="4754880"/>
            <a:ext cx="210312" cy="0"/>
          </a:xfrm>
          <a:prstGeom prst="line">
            <a:avLst/>
          </a:prstGeom>
          <a:ln w="17780">
            <a:solidFill>
              <a:srgbClr val="00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56032"/>
            <a:ext cx="914400" cy="365760"/>
          </a:xfrm>
          <a:prstGeom prst="roundRect">
            <a:avLst/>
          </a:prstGeom>
          <a:solidFill>
            <a:srgbClr val="1262BE"/>
          </a:solidFill>
          <a:ln w="15240">
            <a:solidFill>
              <a:srgbClr val="126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14400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Day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228600"/>
            <a:ext cx="1024128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2600" b="1">
                <a:solidFill>
                  <a:srgbClr val="06224D"/>
                </a:solidFill>
                <a:latin typeface="Malgun Gothic"/>
              </a:defRPr>
            </a:pPr>
            <a:r>
              <a:t>보강 개념 맵: 에이전틱 보안 엔지니어링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713232"/>
            <a:ext cx="1024128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50" b="0">
                <a:solidFill>
                  <a:srgbClr val="5C6E82"/>
                </a:solidFill>
                <a:latin typeface="Malgun Gothic"/>
              </a:defRPr>
            </a:pPr>
            <a:r>
              <a:t>TDD·DDD·Review Loop·Hooks 등은 현재 실습 흐름을 보강하는 개념으로 연결합니다.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1572768" y="1033271"/>
            <a:ext cx="1097280" cy="27432"/>
          </a:xfrm>
          <a:prstGeom prst="rect">
            <a:avLst/>
          </a:prstGeom>
          <a:solidFill>
            <a:srgbClr val="009696"/>
          </a:solidFill>
          <a:ln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107899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400" b="0">
                <a:solidFill>
                  <a:srgbClr val="5C6E82"/>
                </a:solidFill>
                <a:latin typeface="Malgun Gothic"/>
              </a:defRPr>
            </a:pPr>
            <a:r>
              <a:t>오늘 핵심 개념을 보안 실습 흐름에 맞춰 정리한 장입니다.</a:t>
            </a:r>
          </a:p>
        </p:txBody>
      </p:sp>
      <p:sp>
        <p:nvSpPr>
          <p:cNvPr id="9" name="Oval 8"/>
          <p:cNvSpPr/>
          <p:nvPr/>
        </p:nvSpPr>
        <p:spPr>
          <a:xfrm>
            <a:off x="4800600" y="2240280"/>
            <a:ext cx="2468880" cy="2468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02352" y="2788920"/>
            <a:ext cx="1874519" cy="5669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2000" b="1">
                <a:solidFill>
                  <a:srgbClr val="06224D"/>
                </a:solidFill>
                <a:latin typeface="Malgun Gothic"/>
              </a:defRPr>
            </a:pPr>
            <a:r>
              <a:t>Agentic</a:t>
            </a:r>
            <a:br/>
            <a:r>
              <a:t>Security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691640"/>
            <a:ext cx="38404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4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801368"/>
            <a:ext cx="320040" cy="292608"/>
          </a:xfrm>
          <a:prstGeom prst="roundRect">
            <a:avLst/>
          </a:prstGeom>
          <a:solidFill>
            <a:srgbClr val="1262BE"/>
          </a:solidFill>
          <a:ln w="15240">
            <a:solidFill>
              <a:srgbClr val="126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837944"/>
            <a:ext cx="32004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" y="1801368"/>
            <a:ext cx="315468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50" b="1">
                <a:solidFill>
                  <a:srgbClr val="06224D"/>
                </a:solidFill>
                <a:latin typeface="Malgun Gothic"/>
              </a:defRPr>
            </a:pPr>
            <a:r>
              <a:t>Foundation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2130552"/>
            <a:ext cx="3337560" cy="137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860" b="0">
                <a:solidFill>
                  <a:srgbClr val="06224D"/>
                </a:solidFill>
                <a:latin typeface="Malgun Gothic"/>
              </a:defRPr>
            </a:pPr>
            <a:r>
              <a:t>• Agent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2304288"/>
            <a:ext cx="3337560" cy="137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860" b="0">
                <a:solidFill>
                  <a:srgbClr val="06224D"/>
                </a:solidFill>
                <a:latin typeface="Malgun Gothic"/>
              </a:defRPr>
            </a:pPr>
            <a:r>
              <a:t>• Context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2478024"/>
            <a:ext cx="3337560" cy="137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860" b="0">
                <a:solidFill>
                  <a:srgbClr val="06224D"/>
                </a:solidFill>
                <a:latin typeface="Malgun Gothic"/>
              </a:defRPr>
            </a:pPr>
            <a:r>
              <a:t>• Output Schema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2651760"/>
            <a:ext cx="3337560" cy="137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860" b="0">
                <a:solidFill>
                  <a:srgbClr val="06224D"/>
                </a:solidFill>
                <a:latin typeface="Malgun Gothic"/>
              </a:defRPr>
            </a:pPr>
            <a:r>
              <a:t>• Prompt Engineering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434840" y="2400300"/>
            <a:ext cx="365760" cy="1074420"/>
          </a:xfrm>
          <a:prstGeom prst="line">
            <a:avLst/>
          </a:prstGeom>
          <a:ln w="12700">
            <a:solidFill>
              <a:srgbClr val="B4CDD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680960" y="1691640"/>
            <a:ext cx="38404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818120" y="1801368"/>
            <a:ext cx="320040" cy="292608"/>
          </a:xfrm>
          <a:prstGeom prst="roundRect">
            <a:avLst/>
          </a:prstGeom>
          <a:solidFill>
            <a:srgbClr val="009696"/>
          </a:solidFill>
          <a:ln w="15240"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1837944"/>
            <a:ext cx="32004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1801368"/>
            <a:ext cx="315468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50" b="1">
                <a:solidFill>
                  <a:srgbClr val="007878"/>
                </a:solidFill>
                <a:latin typeface="Malgun Gothic"/>
              </a:defRPr>
            </a:pPr>
            <a:r>
              <a:t>Engineering Practice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36992" y="2130552"/>
            <a:ext cx="3337560" cy="137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860" b="0">
                <a:solidFill>
                  <a:srgbClr val="06224D"/>
                </a:solidFill>
                <a:latin typeface="Malgun Gothic"/>
              </a:defRPr>
            </a:pPr>
            <a:r>
              <a:t>• TDD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2304288"/>
            <a:ext cx="3337560" cy="137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860" b="0">
                <a:solidFill>
                  <a:srgbClr val="06224D"/>
                </a:solidFill>
                <a:latin typeface="Malgun Gothic"/>
              </a:defRPr>
            </a:pPr>
            <a:r>
              <a:t>• DDD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36992" y="2478024"/>
            <a:ext cx="3337560" cy="137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860" b="0">
                <a:solidFill>
                  <a:srgbClr val="06224D"/>
                </a:solidFill>
                <a:latin typeface="Malgun Gothic"/>
              </a:defRPr>
            </a:pPr>
            <a:r>
              <a:t>• Refactoring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36992" y="2651760"/>
            <a:ext cx="3337560" cy="137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860" b="0">
                <a:solidFill>
                  <a:srgbClr val="06224D"/>
                </a:solidFill>
                <a:latin typeface="Malgun Gothic"/>
              </a:defRPr>
            </a:pPr>
            <a:r>
              <a:t>• Review Loop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36992" y="2825496"/>
            <a:ext cx="3337560" cy="137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860" b="0">
                <a:solidFill>
                  <a:srgbClr val="06224D"/>
                </a:solidFill>
                <a:latin typeface="Malgun Gothic"/>
              </a:defRPr>
            </a:pPr>
            <a:r>
              <a:t>• Hooks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7269480" y="2400300"/>
            <a:ext cx="411480" cy="1074420"/>
          </a:xfrm>
          <a:prstGeom prst="line">
            <a:avLst/>
          </a:prstGeom>
          <a:ln w="12700">
            <a:solidFill>
              <a:srgbClr val="B4CDD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94360" y="3886200"/>
            <a:ext cx="38404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4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3995928"/>
            <a:ext cx="320040" cy="292608"/>
          </a:xfrm>
          <a:prstGeom prst="roundRect">
            <a:avLst/>
          </a:prstGeom>
          <a:solidFill>
            <a:srgbClr val="1262BE"/>
          </a:solidFill>
          <a:ln w="15240">
            <a:solidFill>
              <a:srgbClr val="126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032504"/>
            <a:ext cx="32004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" y="3995928"/>
            <a:ext cx="315468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50" b="1">
                <a:solidFill>
                  <a:srgbClr val="06224D"/>
                </a:solidFill>
                <a:latin typeface="Malgun Gothic"/>
              </a:defRPr>
            </a:pPr>
            <a:r>
              <a:t>Tooling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" y="4325112"/>
            <a:ext cx="3337560" cy="137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860" b="0">
                <a:solidFill>
                  <a:srgbClr val="06224D"/>
                </a:solidFill>
                <a:latin typeface="Malgun Gothic"/>
              </a:defRPr>
            </a:pPr>
            <a:r>
              <a:t>• MCP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" y="4498848"/>
            <a:ext cx="3337560" cy="137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860" b="0">
                <a:solidFill>
                  <a:srgbClr val="06224D"/>
                </a:solidFill>
                <a:latin typeface="Malgun Gothic"/>
              </a:defRPr>
            </a:pPr>
            <a:r>
              <a:t>• Tool Calling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" y="4672584"/>
            <a:ext cx="3337560" cy="137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860" b="0">
                <a:solidFill>
                  <a:srgbClr val="06224D"/>
                </a:solidFill>
                <a:latin typeface="Malgun Gothic"/>
              </a:defRPr>
            </a:pPr>
            <a:r>
              <a:t>• Security Tools Sandbox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" y="4846320"/>
            <a:ext cx="3337560" cy="137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860" b="0">
                <a:solidFill>
                  <a:srgbClr val="06224D"/>
                </a:solidFill>
                <a:latin typeface="Malgun Gothic"/>
              </a:defRPr>
            </a:pPr>
            <a:r>
              <a:t>• CLI Automation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4434840" y="3749039"/>
            <a:ext cx="365760" cy="845821"/>
          </a:xfrm>
          <a:prstGeom prst="line">
            <a:avLst/>
          </a:prstGeom>
          <a:ln w="12700">
            <a:solidFill>
              <a:srgbClr val="B4CDD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680960" y="3886200"/>
            <a:ext cx="38404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818120" y="3995928"/>
            <a:ext cx="320040" cy="292608"/>
          </a:xfrm>
          <a:prstGeom prst="roundRect">
            <a:avLst/>
          </a:prstGeom>
          <a:solidFill>
            <a:srgbClr val="009696"/>
          </a:solidFill>
          <a:ln w="15240"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18120" y="4032504"/>
            <a:ext cx="32004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1312" y="3995928"/>
            <a:ext cx="315468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50" b="1">
                <a:solidFill>
                  <a:srgbClr val="007878"/>
                </a:solidFill>
                <a:latin typeface="Malgun Gothic"/>
              </a:defRPr>
            </a:pPr>
            <a:r>
              <a:t>Orchestration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36992" y="4325112"/>
            <a:ext cx="3337560" cy="137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860" b="0">
                <a:solidFill>
                  <a:srgbClr val="06224D"/>
                </a:solidFill>
                <a:latin typeface="Malgun Gothic"/>
              </a:defRPr>
            </a:pPr>
            <a:r>
              <a:t>• Supervisor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36992" y="4498848"/>
            <a:ext cx="3337560" cy="137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860" b="0">
                <a:solidFill>
                  <a:srgbClr val="06224D"/>
                </a:solidFill>
                <a:latin typeface="Malgun Gothic"/>
              </a:defRPr>
            </a:pPr>
            <a:r>
              <a:t>• Router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36992" y="4672584"/>
            <a:ext cx="3337560" cy="137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860" b="0">
                <a:solidFill>
                  <a:srgbClr val="06224D"/>
                </a:solidFill>
                <a:latin typeface="Malgun Gothic"/>
              </a:defRPr>
            </a:pPr>
            <a:r>
              <a:t>• State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36992" y="4846320"/>
            <a:ext cx="3337560" cy="137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860" b="0">
                <a:solidFill>
                  <a:srgbClr val="06224D"/>
                </a:solidFill>
                <a:latin typeface="Malgun Gothic"/>
              </a:defRPr>
            </a:pPr>
            <a:r>
              <a:t>• Sub-Agents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36992" y="5020056"/>
            <a:ext cx="3337560" cy="137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860" b="0">
                <a:solidFill>
                  <a:srgbClr val="06224D"/>
                </a:solidFill>
                <a:latin typeface="Malgun Gothic"/>
              </a:defRPr>
            </a:pPr>
            <a:r>
              <a:t>• HITL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36992" y="5193792"/>
            <a:ext cx="3337560" cy="137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860" b="0">
                <a:solidFill>
                  <a:srgbClr val="06224D"/>
                </a:solidFill>
                <a:latin typeface="Malgun Gothic"/>
              </a:defRPr>
            </a:pPr>
            <a:r>
              <a:t>• Audit Log</a:t>
            </a:r>
          </a:p>
        </p:txBody>
      </p:sp>
      <p:cxnSp>
        <p:nvCxnSpPr>
          <p:cNvPr id="49" name="Connector 48"/>
          <p:cNvCxnSpPr/>
          <p:nvPr/>
        </p:nvCxnSpPr>
        <p:spPr>
          <a:xfrm flipH="1" flipV="1">
            <a:off x="7269480" y="3749039"/>
            <a:ext cx="411480" cy="845821"/>
          </a:xfrm>
          <a:prstGeom prst="line">
            <a:avLst/>
          </a:prstGeom>
          <a:ln w="12700">
            <a:solidFill>
              <a:srgbClr val="B4CDD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594360" y="5074920"/>
            <a:ext cx="384048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4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31520" y="5184648"/>
            <a:ext cx="320040" cy="292608"/>
          </a:xfrm>
          <a:prstGeom prst="roundRect">
            <a:avLst/>
          </a:prstGeom>
          <a:solidFill>
            <a:srgbClr val="1262BE"/>
          </a:solidFill>
          <a:ln w="15240">
            <a:solidFill>
              <a:srgbClr val="126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5221224"/>
            <a:ext cx="32004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4712" y="5184648"/>
            <a:ext cx="315468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50" b="1">
                <a:solidFill>
                  <a:srgbClr val="06224D"/>
                </a:solidFill>
                <a:latin typeface="Malgun Gothic"/>
              </a:defRPr>
            </a:pPr>
            <a:r>
              <a:t>Security Analysis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0392" y="5513831"/>
            <a:ext cx="3337560" cy="137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860" b="0">
                <a:solidFill>
                  <a:srgbClr val="06224D"/>
                </a:solidFill>
                <a:latin typeface="Malgun Gothic"/>
              </a:defRPr>
            </a:pPr>
            <a:r>
              <a:t>• SAST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2" y="5687568"/>
            <a:ext cx="3337560" cy="137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860" b="0">
                <a:solidFill>
                  <a:srgbClr val="06224D"/>
                </a:solidFill>
                <a:latin typeface="Malgun Gothic"/>
              </a:defRPr>
            </a:pPr>
            <a:r>
              <a:t>• Secret Detection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392" y="5861303"/>
            <a:ext cx="3337560" cy="137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860" b="0">
                <a:solidFill>
                  <a:srgbClr val="06224D"/>
                </a:solidFill>
                <a:latin typeface="Malgun Gothic"/>
              </a:defRPr>
            </a:pPr>
            <a:r>
              <a:t>• Dependency Analysis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0392" y="6035040"/>
            <a:ext cx="3337560" cy="137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860" b="0">
                <a:solidFill>
                  <a:srgbClr val="06224D"/>
                </a:solidFill>
                <a:latin typeface="Malgun Gothic"/>
              </a:defRPr>
            </a:pPr>
            <a:r>
              <a:t>• Threat Intelligence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0392" y="6208775"/>
            <a:ext cx="3337560" cy="137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860" b="0">
                <a:solidFill>
                  <a:srgbClr val="06224D"/>
                </a:solidFill>
                <a:latin typeface="Malgun Gothic"/>
              </a:defRPr>
            </a:pPr>
            <a:r>
              <a:t>• CVE/KEV/EPSS</a:t>
            </a:r>
          </a:p>
        </p:txBody>
      </p:sp>
      <p:cxnSp>
        <p:nvCxnSpPr>
          <p:cNvPr id="59" name="Connector 58"/>
          <p:cNvCxnSpPr/>
          <p:nvPr/>
        </p:nvCxnSpPr>
        <p:spPr>
          <a:xfrm flipV="1">
            <a:off x="4434840" y="3749039"/>
            <a:ext cx="365760" cy="1897381"/>
          </a:xfrm>
          <a:prstGeom prst="line">
            <a:avLst/>
          </a:prstGeom>
          <a:ln w="12700">
            <a:solidFill>
              <a:srgbClr val="B4CDD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7680960" y="5074920"/>
            <a:ext cx="384048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4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7818120" y="5184648"/>
            <a:ext cx="320040" cy="292608"/>
          </a:xfrm>
          <a:prstGeom prst="roundRect">
            <a:avLst/>
          </a:prstGeom>
          <a:solidFill>
            <a:srgbClr val="009696"/>
          </a:solidFill>
          <a:ln w="15240"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818120" y="5221224"/>
            <a:ext cx="32004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11312" y="5184648"/>
            <a:ext cx="315468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350" b="1">
                <a:solidFill>
                  <a:srgbClr val="007878"/>
                </a:solidFill>
                <a:latin typeface="Malgun Gothic"/>
              </a:defRPr>
            </a:pPr>
            <a:r>
              <a:t>Delivery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36992" y="5513831"/>
            <a:ext cx="3337560" cy="137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860" b="0">
                <a:solidFill>
                  <a:srgbClr val="06224D"/>
                </a:solidFill>
                <a:latin typeface="Malgun Gothic"/>
              </a:defRPr>
            </a:pPr>
            <a:r>
              <a:t>• Final Report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36992" y="5687568"/>
            <a:ext cx="3337560" cy="137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860" b="0">
                <a:solidFill>
                  <a:srgbClr val="06224D"/>
                </a:solidFill>
                <a:latin typeface="Malgun Gothic"/>
              </a:defRPr>
            </a:pPr>
            <a:r>
              <a:t>• Remediation Plan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36992" y="5861303"/>
            <a:ext cx="3337560" cy="137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860" b="0">
                <a:solidFill>
                  <a:srgbClr val="06224D"/>
                </a:solidFill>
                <a:latin typeface="Malgun Gothic"/>
              </a:defRPr>
            </a:pPr>
            <a:r>
              <a:t>• Department Adoption</a:t>
            </a:r>
          </a:p>
        </p:txBody>
      </p:sp>
      <p:cxnSp>
        <p:nvCxnSpPr>
          <p:cNvPr id="67" name="Connector 66"/>
          <p:cNvCxnSpPr/>
          <p:nvPr/>
        </p:nvCxnSpPr>
        <p:spPr>
          <a:xfrm flipH="1" flipV="1">
            <a:off x="7269480" y="3749039"/>
            <a:ext cx="411480" cy="1897381"/>
          </a:xfrm>
          <a:prstGeom prst="line">
            <a:avLst/>
          </a:prstGeom>
          <a:ln w="12700">
            <a:solidFill>
              <a:srgbClr val="B4CDD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4069080" y="5138928"/>
            <a:ext cx="4069080" cy="502920"/>
          </a:xfrm>
          <a:prstGeom prst="roundRect">
            <a:avLst/>
          </a:prstGeom>
          <a:solidFill>
            <a:srgbClr val="E1F8F8"/>
          </a:solidFill>
          <a:ln w="15240"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251960" y="5276088"/>
            <a:ext cx="370332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960" b="1">
                <a:solidFill>
                  <a:srgbClr val="06224D"/>
                </a:solidFill>
                <a:latin typeface="Malgun Gothic"/>
              </a:defRPr>
            </a:pPr>
            <a:r>
              <a:t>핵심: TDD/DDD/Review Loop는 보안 Agent의 신뢰성과 확장성을 높이는 보강 개념입니다.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56032"/>
            <a:ext cx="914400" cy="365760"/>
          </a:xfrm>
          <a:prstGeom prst="roundRect">
            <a:avLst/>
          </a:prstGeom>
          <a:solidFill>
            <a:srgbClr val="1262BE"/>
          </a:solidFill>
          <a:ln w="15240">
            <a:solidFill>
              <a:srgbClr val="126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14400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Day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228600"/>
            <a:ext cx="10241280" cy="4754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2600" b="1">
                <a:solidFill>
                  <a:srgbClr val="06224D"/>
                </a:solidFill>
                <a:latin typeface="Malgun Gothic"/>
              </a:defRPr>
            </a:pPr>
            <a:r>
              <a:t>Day 3 대표 구조도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713232"/>
            <a:ext cx="1024128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defRPr sz="1250" b="0">
                <a:solidFill>
                  <a:srgbClr val="5C6E82"/>
                </a:solidFill>
                <a:latin typeface="Malgun Gothic"/>
              </a:defRPr>
            </a:pPr>
            <a:r>
              <a:t>여러 Agent를 조율하는 Supervisor</a:t>
            </a:r>
          </a:p>
        </p:txBody>
      </p:sp>
      <p:sp>
        <p:nvSpPr>
          <p:cNvPr id="7" name="Rectangle 6"/>
          <p:cNvSpPr/>
          <p:nvPr/>
        </p:nvSpPr>
        <p:spPr>
          <a:xfrm>
            <a:off x="1572768" y="1033271"/>
            <a:ext cx="1097280" cy="27432"/>
          </a:xfrm>
          <a:prstGeom prst="rect">
            <a:avLst/>
          </a:prstGeom>
          <a:solidFill>
            <a:srgbClr val="009696"/>
          </a:solidFill>
          <a:ln>
            <a:solidFill>
              <a:srgbClr val="0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1078992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400" b="0">
                <a:solidFill>
                  <a:srgbClr val="5C6E82"/>
                </a:solidFill>
                <a:latin typeface="Malgun Gothic"/>
              </a:defRPr>
            </a:pPr>
            <a:r>
              <a:t>이 그림은 오늘의 핵심 구조를 파일·실행·산출물 관점으로 연결합니다.</a:t>
            </a:r>
          </a:p>
        </p:txBody>
      </p:sp>
      <p:sp>
        <p:nvSpPr>
          <p:cNvPr id="9" name="Oval 8"/>
          <p:cNvSpPr/>
          <p:nvPr/>
        </p:nvSpPr>
        <p:spPr>
          <a:xfrm>
            <a:off x="576072" y="2404872"/>
            <a:ext cx="768096" cy="768096"/>
          </a:xfrm>
          <a:prstGeom prst="ellipse">
            <a:avLst/>
          </a:prstGeom>
          <a:solidFill>
            <a:srgbClr val="E1F8F8"/>
          </a:solidFill>
          <a:ln w="22860">
            <a:solidFill>
              <a:srgbClr val="126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2624327"/>
            <a:ext cx="566928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600" b="1">
                <a:solidFill>
                  <a:srgbClr val="1262BE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" y="3383279"/>
            <a:ext cx="182880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4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" y="3557015"/>
            <a:ext cx="155448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250" b="1">
                <a:solidFill>
                  <a:srgbClr val="06224D"/>
                </a:solidFill>
                <a:latin typeface="Malgun Gothic"/>
              </a:defRPr>
            </a:pPr>
            <a:r>
              <a:t>5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" y="3858768"/>
            <a:ext cx="155448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950" b="0">
                <a:solidFill>
                  <a:srgbClr val="5C6E82"/>
                </a:solidFill>
                <a:latin typeface="Malgun Gothic"/>
              </a:defRPr>
            </a:pPr>
            <a:r>
              <a:t>전문 역할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371600" y="2788920"/>
            <a:ext cx="2529840" cy="0"/>
          </a:xfrm>
          <a:prstGeom prst="line">
            <a:avLst/>
          </a:prstGeom>
          <a:ln w="27940">
            <a:solidFill>
              <a:srgbClr val="00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928872" y="2404872"/>
            <a:ext cx="768096" cy="768096"/>
          </a:xfrm>
          <a:prstGeom prst="ellipse">
            <a:avLst/>
          </a:prstGeom>
          <a:solidFill>
            <a:srgbClr val="E1F8F8"/>
          </a:solidFill>
          <a:ln w="22860">
            <a:solidFill>
              <a:srgbClr val="126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9456" y="2624327"/>
            <a:ext cx="566928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600" b="1">
                <a:solidFill>
                  <a:srgbClr val="1262BE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98520" y="3383279"/>
            <a:ext cx="182880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4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5680" y="3557015"/>
            <a:ext cx="155448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250" b="1">
                <a:solidFill>
                  <a:srgbClr val="06224D"/>
                </a:solidFill>
                <a:latin typeface="Malgun Gothic"/>
              </a:defRPr>
            </a:pPr>
            <a:r>
              <a:t>Supervisor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5680" y="3858768"/>
            <a:ext cx="155448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950" b="0">
                <a:solidFill>
                  <a:srgbClr val="5C6E82"/>
                </a:solidFill>
                <a:latin typeface="Malgun Gothic"/>
              </a:defRPr>
            </a:pPr>
            <a:r>
              <a:t>중앙 조율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24400" y="2788920"/>
            <a:ext cx="2529839" cy="0"/>
          </a:xfrm>
          <a:prstGeom prst="line">
            <a:avLst/>
          </a:prstGeom>
          <a:ln w="27940">
            <a:solidFill>
              <a:srgbClr val="00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281672" y="2404872"/>
            <a:ext cx="768096" cy="768096"/>
          </a:xfrm>
          <a:prstGeom prst="ellipse">
            <a:avLst/>
          </a:prstGeom>
          <a:solidFill>
            <a:srgbClr val="E1F8F8"/>
          </a:solidFill>
          <a:ln w="22860">
            <a:solidFill>
              <a:srgbClr val="126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82255" y="2624327"/>
            <a:ext cx="566928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600" b="1">
                <a:solidFill>
                  <a:srgbClr val="1262BE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51320" y="3383279"/>
            <a:ext cx="182880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4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8480" y="3557015"/>
            <a:ext cx="155448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250" b="1">
                <a:solidFill>
                  <a:srgbClr val="06224D"/>
                </a:solidFill>
                <a:latin typeface="Malgun Gothic"/>
              </a:defRPr>
            </a:pPr>
            <a:r>
              <a:t>HITL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88480" y="3858768"/>
            <a:ext cx="155448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950" b="0">
                <a:solidFill>
                  <a:srgbClr val="5C6E82"/>
                </a:solidFill>
                <a:latin typeface="Malgun Gothic"/>
              </a:defRPr>
            </a:pPr>
            <a:r>
              <a:t>사람 승인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077199" y="2788920"/>
            <a:ext cx="2529841" cy="0"/>
          </a:xfrm>
          <a:prstGeom prst="line">
            <a:avLst/>
          </a:prstGeom>
          <a:ln w="27940">
            <a:solidFill>
              <a:srgbClr val="00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10634472" y="2404872"/>
            <a:ext cx="768096" cy="768096"/>
          </a:xfrm>
          <a:prstGeom prst="ellipse">
            <a:avLst/>
          </a:prstGeom>
          <a:solidFill>
            <a:srgbClr val="E1F8F8"/>
          </a:solidFill>
          <a:ln w="22860">
            <a:solidFill>
              <a:srgbClr val="126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35056" y="2624327"/>
            <a:ext cx="566928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600" b="1">
                <a:solidFill>
                  <a:srgbClr val="1262BE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04120" y="3383279"/>
            <a:ext cx="182880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4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0" y="3557015"/>
            <a:ext cx="155448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250" b="1">
                <a:solidFill>
                  <a:srgbClr val="06224D"/>
                </a:solidFill>
                <a:latin typeface="Malgun Gothic"/>
              </a:defRPr>
            </a:pPr>
            <a:r>
              <a:t>Audit Log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3858768"/>
            <a:ext cx="155448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950" b="0">
                <a:solidFill>
                  <a:srgbClr val="5C6E82"/>
                </a:solidFill>
                <a:latin typeface="Malgun Gothic"/>
              </a:defRPr>
            </a:pPr>
            <a:r>
              <a:t>결정 기록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51960" y="4956048"/>
            <a:ext cx="3657600" cy="384048"/>
          </a:xfrm>
          <a:prstGeom prst="roundRect">
            <a:avLst/>
          </a:prstGeom>
          <a:solidFill>
            <a:srgbClr val="1262BE"/>
          </a:solidFill>
          <a:ln w="15240">
            <a:solidFill>
              <a:srgbClr val="126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51960" y="4992624"/>
            <a:ext cx="365760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여러 Agent를 조율하는 Supervisor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097280" cy="320040"/>
          </a:xfrm>
          <a:prstGeom prst="rect">
            <a:avLst/>
          </a:prstGeom>
          <a:solidFill>
            <a:srgbClr val="1C5FB4"/>
          </a:solidFill>
          <a:ln>
            <a:solidFill>
              <a:srgbClr val="1C5FB4"/>
            </a:solidFill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Day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72354"/>
                </a:solidFill>
                <a:latin typeface="Malgun Gothic"/>
              </a:rPr>
              <a:t>Mini Lab → Main Lab 연결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24358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6473"/>
                </a:solidFill>
                <a:latin typeface="Malgun Gothic"/>
              </a:rPr>
              <a:t>작은 실험으로 개념을 먼저 체감하고, 바로 보안 실습으로 확장합니다.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627632"/>
            <a:ext cx="1005840" cy="36576"/>
          </a:xfrm>
          <a:prstGeom prst="rect">
            <a:avLst/>
          </a:prstGeom>
          <a:solidFill>
            <a:srgbClr val="009896"/>
          </a:solidFill>
          <a:ln>
            <a:solidFill>
              <a:srgbClr val="009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4389120" cy="2971800"/>
          </a:xfrm>
          <a:prstGeom prst="roundRect">
            <a:avLst/>
          </a:prstGeom>
          <a:solidFill>
            <a:srgbClr val="F1F7FB"/>
          </a:solidFill>
          <a:ln w="15240">
            <a:solidFill>
              <a:srgbClr val="B8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2020824"/>
            <a:ext cx="40599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9896"/>
                </a:solidFill>
                <a:latin typeface="Malgun Gothic"/>
              </a:rPr>
              <a:t>Mini Lab · Bug Hunt Game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377439"/>
            <a:ext cx="405993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72354"/>
                </a:solidFill>
                <a:latin typeface="Malgun Gothic"/>
              </a:defRPr>
            </a:pPr>
            <a:r>
              <a:t>Planner</a:t>
            </a:r>
          </a:p>
          <a:p>
            <a:pPr>
              <a:defRPr sz="1050">
                <a:solidFill>
                  <a:srgbClr val="5A6473"/>
                </a:solidFill>
                <a:latin typeface="Malgun Gothic"/>
              </a:defRPr>
            </a:pPr>
            <a:r>
              <a:t>Hunter</a:t>
            </a:r>
          </a:p>
          <a:p>
            <a:pPr>
              <a:defRPr sz="1050">
                <a:solidFill>
                  <a:srgbClr val="5A6473"/>
                </a:solidFill>
                <a:latin typeface="Malgun Gothic"/>
              </a:defRPr>
            </a:pPr>
            <a:r>
              <a:t>Reviewer</a:t>
            </a:r>
          </a:p>
          <a:p>
            <a:pPr>
              <a:defRPr sz="1050">
                <a:solidFill>
                  <a:srgbClr val="5A6473"/>
                </a:solidFill>
                <a:latin typeface="Malgun Gothic"/>
              </a:defRPr>
            </a:pPr>
            <a:r>
              <a:t>Reporter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874519"/>
            <a:ext cx="4389120" cy="2971800"/>
          </a:xfrm>
          <a:prstGeom prst="roundRect">
            <a:avLst/>
          </a:prstGeom>
          <a:solidFill>
            <a:srgbClr val="F1F7FB"/>
          </a:solidFill>
          <a:ln w="15240">
            <a:solidFill>
              <a:srgbClr val="B8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96912" y="2020824"/>
            <a:ext cx="40599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C5FB4"/>
                </a:solidFill>
                <a:latin typeface="Malgun Gothic"/>
              </a:rPr>
              <a:t>Main Lab · Security Supervisor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2377439"/>
            <a:ext cx="405993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72354"/>
                </a:solidFill>
                <a:latin typeface="Malgun Gothic"/>
              </a:defRPr>
            </a:pPr>
            <a:r>
              <a:t>Supervisor</a:t>
            </a:r>
          </a:p>
          <a:p>
            <a:pPr>
              <a:defRPr sz="1050">
                <a:solidFill>
                  <a:srgbClr val="5A6473"/>
                </a:solidFill>
                <a:latin typeface="Malgun Gothic"/>
              </a:defRPr>
            </a:pPr>
            <a:r>
              <a:t>State</a:t>
            </a:r>
          </a:p>
          <a:p>
            <a:pPr>
              <a:defRPr sz="1050">
                <a:solidFill>
                  <a:srgbClr val="5A6473"/>
                </a:solidFill>
                <a:latin typeface="Malgun Gothic"/>
              </a:defRPr>
            </a:pPr>
            <a:r>
              <a:t>HITL</a:t>
            </a:r>
          </a:p>
          <a:p>
            <a:pPr>
              <a:defRPr sz="1050">
                <a:solidFill>
                  <a:srgbClr val="5A6473"/>
                </a:solidFill>
                <a:latin typeface="Malgun Gothic"/>
              </a:defRPr>
            </a:pPr>
            <a:r>
              <a:t>Audit Log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212080" y="3337560"/>
            <a:ext cx="1691640" cy="0"/>
          </a:xfrm>
          <a:prstGeom prst="line">
            <a:avLst/>
          </a:prstGeom>
          <a:ln w="25400">
            <a:solidFill>
              <a:srgbClr val="009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828800" y="5257800"/>
            <a:ext cx="8503920" cy="868680"/>
          </a:xfrm>
          <a:prstGeom prst="roundRect">
            <a:avLst/>
          </a:prstGeom>
          <a:solidFill>
            <a:srgbClr val="F1F7FB"/>
          </a:solidFill>
          <a:ln w="15240">
            <a:solidFill>
              <a:srgbClr val="B8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93392" y="5404104"/>
            <a:ext cx="81747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72354"/>
                </a:solidFill>
                <a:latin typeface="Malgun Gothic"/>
              </a:rPr>
              <a:t>연결 문장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93392" y="5760720"/>
            <a:ext cx="8174736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72354"/>
                </a:solidFill>
                <a:latin typeface="Malgun Gothic"/>
              </a:defRPr>
            </a:pPr>
            <a:r>
              <a:t>Planner/Hunter/Reviewer/Reporter 역할 분리는 SAST/Secret/Dependency/Threat/Report Agent 구조로 확장됩니다.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097280" cy="320040"/>
          </a:xfrm>
          <a:prstGeom prst="rect">
            <a:avLst/>
          </a:prstGeom>
          <a:solidFill>
            <a:srgbClr val="1C5FB4"/>
          </a:solidFill>
          <a:ln>
            <a:solidFill>
              <a:srgbClr val="1C5FB4"/>
            </a:solidFill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Day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72354"/>
                </a:solidFill>
                <a:latin typeface="Malgun Gothic"/>
              </a:rPr>
              <a:t>Mini Lab 실행 · Bug Hunt Game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24358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6473"/>
                </a:solidFill>
                <a:latin typeface="Malgun Gothic"/>
              </a:rPr>
              <a:t>한 줄 명령으로 실행하고, 산출물을 확인합니다.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627632"/>
            <a:ext cx="1005840" cy="36576"/>
          </a:xfrm>
          <a:prstGeom prst="rect">
            <a:avLst/>
          </a:prstGeom>
          <a:solidFill>
            <a:srgbClr val="009896"/>
          </a:solidFill>
          <a:ln>
            <a:solidFill>
              <a:srgbClr val="009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2926080" cy="1280160"/>
          </a:xfrm>
          <a:prstGeom prst="roundRect">
            <a:avLst/>
          </a:prstGeom>
          <a:solidFill>
            <a:srgbClr val="F1F7FB"/>
          </a:solidFill>
          <a:ln w="15240">
            <a:solidFill>
              <a:srgbClr val="B8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975104"/>
            <a:ext cx="25968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9896"/>
                </a:solidFill>
                <a:latin typeface="Malgun Gothic"/>
              </a:rPr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331720"/>
            <a:ext cx="2596896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72354"/>
                </a:solidFill>
                <a:latin typeface="Malgun Gothic"/>
              </a:defRPr>
            </a:pPr>
            <a:r>
              <a:t>멀티에이전트는 모델 수가 아니라 역할과 책임을 나누는 구조임을 체감합니다.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337560"/>
            <a:ext cx="2926080" cy="1920240"/>
          </a:xfrm>
          <a:prstGeom prst="roundRect">
            <a:avLst/>
          </a:prstGeom>
          <a:solidFill>
            <a:srgbClr val="F1F7FB"/>
          </a:solidFill>
          <a:ln w="15240">
            <a:solidFill>
              <a:srgbClr val="B8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3483864"/>
            <a:ext cx="25968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C5FB4"/>
                </a:solidFill>
                <a:latin typeface="Malgun Gothic"/>
              </a:rPr>
              <a:t>관련 파일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840480"/>
            <a:ext cx="259689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72354"/>
                </a:solidFill>
                <a:latin typeface="Malgun Gothic"/>
              </a:defRPr>
            </a:pPr>
            <a:r>
              <a:t>course/mini_labs/day03_multi_agent_game/run_bug_hunt_game.py</a:t>
            </a:r>
          </a:p>
          <a:p>
            <a:pPr>
              <a:defRPr sz="1050">
                <a:solidFill>
                  <a:srgbClr val="5A6473"/>
                </a:solidFill>
                <a:latin typeface="Malgun Gothic"/>
              </a:defRPr>
            </a:pPr>
            <a:r>
              <a:t>bug_snippet.py</a:t>
            </a:r>
          </a:p>
          <a:p>
            <a:pPr>
              <a:defRPr sz="1050">
                <a:solidFill>
                  <a:srgbClr val="5A6473"/>
                </a:solidFill>
                <a:latin typeface="Malgun Gothic"/>
              </a:defRPr>
            </a:pPr>
            <a:r>
              <a:t>roles.md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1828800"/>
            <a:ext cx="7863840" cy="1417320"/>
          </a:xfrm>
          <a:prstGeom prst="roundRect">
            <a:avLst/>
          </a:prstGeom>
          <a:solidFill>
            <a:srgbClr val="0C1C37"/>
          </a:solidFill>
          <a:ln>
            <a:solidFill>
              <a:srgbClr val="0C1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1965960"/>
            <a:ext cx="74980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6F5FF"/>
                </a:solidFill>
                <a:latin typeface="Consolas"/>
              </a:defRPr>
            </a:pPr>
            <a:r>
              <a:t>python course/mini_labs/day03_multi_agent_game/run_bug_hunt_game.py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03320" y="3520440"/>
            <a:ext cx="3703320" cy="1737360"/>
          </a:xfrm>
          <a:prstGeom prst="roundRect">
            <a:avLst/>
          </a:prstGeom>
          <a:solidFill>
            <a:srgbClr val="F1F7FB"/>
          </a:solidFill>
          <a:ln w="15240">
            <a:solidFill>
              <a:srgbClr val="B8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67911" y="3666744"/>
            <a:ext cx="33741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9896"/>
                </a:solidFill>
                <a:latin typeface="Malgun Gothic"/>
              </a:rPr>
              <a:t>생성 산출물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1" y="4023360"/>
            <a:ext cx="337413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72354"/>
                </a:solidFill>
                <a:latin typeface="Malgun Gothic"/>
              </a:defRPr>
            </a:pPr>
            <a:r>
              <a:t>reports/bug_hunt_report.md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3520440"/>
            <a:ext cx="3749039" cy="1737360"/>
          </a:xfrm>
          <a:prstGeom prst="roundRect">
            <a:avLst/>
          </a:prstGeom>
          <a:solidFill>
            <a:srgbClr val="F1F7FB"/>
          </a:solidFill>
          <a:ln w="15240">
            <a:solidFill>
              <a:srgbClr val="B8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82712" y="3666744"/>
            <a:ext cx="34198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72354"/>
                </a:solidFill>
                <a:latin typeface="Malgun Gothic"/>
              </a:rPr>
              <a:t>확인 포인트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4023360"/>
            <a:ext cx="341985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72354"/>
                </a:solidFill>
                <a:latin typeface="Malgun Gothic"/>
              </a:defRPr>
            </a:pPr>
            <a:r>
              <a:t>역할별 결과 분리</a:t>
            </a:r>
          </a:p>
          <a:p>
            <a:pPr>
              <a:defRPr sz="1050">
                <a:solidFill>
                  <a:srgbClr val="5A6473"/>
                </a:solidFill>
                <a:latin typeface="Malgun Gothic"/>
              </a:defRPr>
            </a:pPr>
            <a:r>
              <a:t>Reviewer 검증 이유</a:t>
            </a:r>
          </a:p>
          <a:p>
            <a:pPr>
              <a:defRPr sz="1050">
                <a:solidFill>
                  <a:srgbClr val="5A6473"/>
                </a:solidFill>
                <a:latin typeface="Malgun Gothic"/>
              </a:defRPr>
            </a:pPr>
            <a:r>
              <a:t>Supervisor 본실습 연결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097280" cy="320040"/>
          </a:xfrm>
          <a:prstGeom prst="rect">
            <a:avLst/>
          </a:prstGeom>
          <a:solidFill>
            <a:srgbClr val="1C5FB4"/>
          </a:solidFill>
          <a:ln>
            <a:solidFill>
              <a:srgbClr val="1C5FB4"/>
            </a:solidFill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Day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72354"/>
                </a:solidFill>
                <a:latin typeface="Malgun Gothic"/>
              </a:rPr>
              <a:t>Sub-Agent · Review Loop ·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24358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6473"/>
                </a:solidFill>
                <a:latin typeface="Malgun Gothic"/>
              </a:rPr>
              <a:t>부가 개념을 키워드가 아니라 실습·산출물·검증과 연결합니다.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627632"/>
            <a:ext cx="1005840" cy="36576"/>
          </a:xfrm>
          <a:prstGeom prst="rect">
            <a:avLst/>
          </a:prstGeom>
          <a:solidFill>
            <a:srgbClr val="009896"/>
          </a:solidFill>
          <a:ln>
            <a:solidFill>
              <a:srgbClr val="009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3657600" cy="3383280"/>
          </a:xfrm>
          <a:prstGeom prst="roundRect">
            <a:avLst/>
          </a:prstGeom>
          <a:solidFill>
            <a:srgbClr val="F1F7FB"/>
          </a:solidFill>
          <a:ln w="15240">
            <a:solidFill>
              <a:srgbClr val="B8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066544"/>
            <a:ext cx="33284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9896"/>
                </a:solidFill>
                <a:latin typeface="Malgun Gothic"/>
              </a:rPr>
              <a:t>Sub-Agent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423160"/>
            <a:ext cx="3328416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72354"/>
                </a:solidFill>
                <a:latin typeface="Malgun Gothic"/>
              </a:defRPr>
            </a:pPr>
            <a:r>
              <a:t>큰 일을 작은 역할로 나눕니다.</a:t>
            </a:r>
          </a:p>
          <a:p>
            <a:pPr>
              <a:defRPr sz="1050">
                <a:solidFill>
                  <a:srgbClr val="5A6473"/>
                </a:solidFill>
                <a:latin typeface="Malgun Gothic"/>
              </a:defRPr>
            </a:pPr>
            <a:r>
              <a:t>각 Agent는 좁고 명확한 책임을 가집니다.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20240"/>
            <a:ext cx="3657600" cy="3383280"/>
          </a:xfrm>
          <a:prstGeom prst="roundRect">
            <a:avLst/>
          </a:prstGeom>
          <a:solidFill>
            <a:srgbClr val="F1F7FB"/>
          </a:solidFill>
          <a:ln w="15240">
            <a:solidFill>
              <a:srgbClr val="B8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2066544"/>
            <a:ext cx="33284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C5FB4"/>
                </a:solidFill>
                <a:latin typeface="Malgun Gothic"/>
              </a:rPr>
              <a:t>Review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423160"/>
            <a:ext cx="3328416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72354"/>
                </a:solidFill>
                <a:latin typeface="Malgun Gothic"/>
              </a:defRPr>
            </a:pPr>
            <a:r>
              <a:t>결과를 바로 믿지 않고 검증합니다.</a:t>
            </a:r>
          </a:p>
          <a:p>
            <a:pPr>
              <a:defRPr sz="1050">
                <a:solidFill>
                  <a:srgbClr val="5A6473"/>
                </a:solidFill>
                <a:latin typeface="Malgun Gothic"/>
              </a:defRPr>
            </a:pPr>
            <a:r>
              <a:t>부족하면 재시도하고 위험하면 HITL로 멈춥니다.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920240"/>
            <a:ext cx="3657600" cy="3383280"/>
          </a:xfrm>
          <a:prstGeom prst="roundRect">
            <a:avLst/>
          </a:prstGeom>
          <a:solidFill>
            <a:srgbClr val="F1F7FB"/>
          </a:solidFill>
          <a:ln w="15240">
            <a:solidFill>
              <a:srgbClr val="B8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2066544"/>
            <a:ext cx="33284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72354"/>
                </a:solidFill>
                <a:latin typeface="Malgun Gothic"/>
              </a:rPr>
              <a:t>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2423160"/>
            <a:ext cx="3328416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72354"/>
                </a:solidFill>
                <a:latin typeface="Malgun Gothic"/>
              </a:defRPr>
            </a:pPr>
            <a:r>
              <a:t>Agent 간 직접 대화가 아니라 중앙 상태를 경유합니다.</a:t>
            </a:r>
          </a:p>
          <a:p>
            <a:pPr>
              <a:defRPr sz="1050">
                <a:solidFill>
                  <a:srgbClr val="5A6473"/>
                </a:solidFill>
                <a:latin typeface="Malgun Gothic"/>
              </a:defRPr>
            </a:pPr>
            <a:r>
              <a:t>감사와 재현성을 확보합니다.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이론 1 · 왜 조율인가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단일에서 멀티로 — 왜 지휘자가 필요한가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411480" cy="41148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2801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1에서 본 단일 Agent의 한계를 다시 떠올립니다. 분업의 답이 곧 오케스트레이션입니다.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Agentic Security 심화 · Day 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Malgun Gothic"/>
              </a:rPr>
              <a:t>9</a:t>
            </a:r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11183112" cy="9144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67512" y="187452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80160" y="1929384"/>
            <a:ext cx="102229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역할 분리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SAST·시크릿·의존성·위협·리포트를 각 전문 Agent가 맡으면, 각자의 근거 품질이 올라갑니다.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2916936"/>
            <a:ext cx="11183112" cy="9144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" y="2916936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280160" y="2971800"/>
            <a:ext cx="102229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순서 통제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의존성이 CVE를 찾아야 위협 Agent가 조회할 수 있습니다. 누가 먼저인지를 지휘자가 정합니다.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959352"/>
            <a:ext cx="11183112" cy="9144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7512" y="3959352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80160" y="4014216"/>
            <a:ext cx="102229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검증·감사 지점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모든 결과가 중앙을 지나야, 검증·승인·기록을 한곳에 둘 수 있습니다. 분산 구조에는 이 자리가 없습니다.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5760720"/>
            <a:ext cx="11183112" cy="713232"/>
          </a:xfrm>
          <a:prstGeom prst="rect">
            <a:avLst/>
          </a:prstGeom>
          <a:solidFill>
            <a:srgbClr val="E8F2FB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02920" y="5760720"/>
            <a:ext cx="50292" cy="713232"/>
          </a:xfrm>
          <a:prstGeom prst="rect">
            <a:avLst/>
          </a:prstGeom>
          <a:solidFill>
            <a:srgbClr val="1B9CE5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67512" y="5815584"/>
            <a:ext cx="10863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본 과정은 '허브앤스포크(중앙 Supervisor)'를 채택합니다. 중앙 집중이 통제·감사를 가능하게 하기 때문입니다.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이론 1+ · 위임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큰 일은 쪼개서 위임한다 — 서브에이전트 사고법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411480" cy="41148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2801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에이전틱 코딩의 핵심 사고법입니다. 메인 흐름의 책상(컨텍스트)을 아끼려면 하위 작업을 떼어 맡깁니다.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Agentic Security 심화 · Day 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Malgun Gothic"/>
              </a:rPr>
              <a:t>10</a:t>
            </a:r>
          </a:p>
        </p:txBody>
      </p:sp>
      <p:sp>
        <p:nvSpPr>
          <p:cNvPr id="8" name="Shape 6"/>
          <p:cNvSpPr/>
          <p:nvPr/>
        </p:nvSpPr>
        <p:spPr>
          <a:xfrm>
            <a:off x="502920" y="1965960"/>
            <a:ext cx="5454396" cy="3566160"/>
          </a:xfrm>
          <a:prstGeom prst="rect">
            <a:avLst/>
          </a:prstGeom>
          <a:solidFill>
            <a:srgbClr val="F7F8FA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02920" y="1965960"/>
            <a:ext cx="5454396" cy="54864"/>
          </a:xfrm>
          <a:prstGeom prst="rect">
            <a:avLst/>
          </a:prstGeom>
          <a:solidFill>
            <a:srgbClr val="8A8A8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04088" y="2112264"/>
            <a:ext cx="5052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에이전트가 다 할 때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04088" y="2532888"/>
            <a:ext cx="505206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긴 탐색·분석 이력이 책상을 차지</a:t>
            </a:r>
            <a:endParaRPr lang="en-US" sz="11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본 작업의 맥락이 뒤로 밀림</a:t>
            </a:r>
            <a:endParaRPr lang="en-US" sz="11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깊이와 집중이 함께 떨어짐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31636" y="1965960"/>
            <a:ext cx="5454396" cy="3566160"/>
          </a:xfrm>
          <a:prstGeom prst="rect">
            <a:avLst/>
          </a:prstGeom>
          <a:solidFill>
            <a:srgbClr val="F7F8FA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31636" y="1965960"/>
            <a:ext cx="5454396" cy="54864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32804" y="2112264"/>
            <a:ext cx="5052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하위 작업을 위임할 때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32804" y="2532888"/>
            <a:ext cx="505206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하위 에이전트가 자기 책상에서 수행</a:t>
            </a:r>
            <a:endParaRPr lang="en-US" sz="11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메인에는 '요약 결과'만 돌아옴</a:t>
            </a:r>
            <a:endParaRPr lang="en-US" sz="11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각자 좁고 깊게 — 분업의 본질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5760720"/>
            <a:ext cx="11183112" cy="548640"/>
          </a:xfrm>
          <a:prstGeom prst="rect">
            <a:avLst/>
          </a:prstGeom>
          <a:solidFill>
            <a:srgbClr val="E8F2FB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02920" y="5760720"/>
            <a:ext cx="50292" cy="548640"/>
          </a:xfrm>
          <a:prstGeom prst="rect">
            <a:avLst/>
          </a:prstGeom>
          <a:solidFill>
            <a:srgbClr val="1B9CE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67512" y="5815584"/>
            <a:ext cx="10863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우리 Supervisor 구조가 정확히 이 사고법입니다. 다섯 전문 Agent가 각자의 일을 하고, 중앙에는 정제된 결과만 모입니다.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이론 2 · 5대 패턴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워크플로우 5대 패턴 — 일을 잇는 방식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411480" cy="41148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2801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여러 Agent를 잇는 방식에는 대표적인 다섯 패턴이 있습니다. 우리는 이 중 둘을 조합합니다.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Agentic Security 심화 · Day 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Malgun Gothic"/>
              </a:rPr>
              <a:t>11</a:t>
            </a:r>
          </a:p>
        </p:txBody>
      </p:sp>
      <p:sp>
        <p:nvSpPr>
          <p:cNvPr id="8" name="Shape 6"/>
          <p:cNvSpPr/>
          <p:nvPr/>
        </p:nvSpPr>
        <p:spPr>
          <a:xfrm>
            <a:off x="502920" y="1965960"/>
            <a:ext cx="2104949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9CE5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02920" y="1965960"/>
            <a:ext cx="2104949" cy="777240"/>
          </a:xfrm>
          <a:prstGeom prst="rect">
            <a:avLst/>
          </a:prstGeom>
          <a:solidFill>
            <a:srgbClr val="1B9CE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76072" y="2057400"/>
            <a:ext cx="19586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Chaining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30936" y="2816352"/>
            <a:ext cx="1848917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단계별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직선 연결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72461" y="1965960"/>
            <a:ext cx="2104949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E9488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772461" y="1965960"/>
            <a:ext cx="2104949" cy="777240"/>
          </a:xfrm>
          <a:prstGeom prst="rect">
            <a:avLst/>
          </a:prstGeom>
          <a:solidFill>
            <a:srgbClr val="0E9488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845613" y="2057400"/>
            <a:ext cx="19586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Routing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900477" y="2816352"/>
            <a:ext cx="1848917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따라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분기 (채택)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42002" y="1965960"/>
            <a:ext cx="2104949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042002" y="1965960"/>
            <a:ext cx="2104949" cy="7772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115154" y="2057400"/>
            <a:ext cx="19586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Parallel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170018" y="2816352"/>
            <a:ext cx="1848917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동시 실행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후 취합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1542" y="1965960"/>
            <a:ext cx="2104949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C2620A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311542" y="1965960"/>
            <a:ext cx="2104949" cy="777240"/>
          </a:xfrm>
          <a:prstGeom prst="rect">
            <a:avLst/>
          </a:prstGeom>
          <a:solidFill>
            <a:srgbClr val="C2620A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384694" y="2057400"/>
            <a:ext cx="19586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Supervisor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439558" y="2816352"/>
            <a:ext cx="1848917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중앙 위임·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취합 (채택)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581083" y="1965960"/>
            <a:ext cx="2104949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9581083" y="1965960"/>
            <a:ext cx="2104949" cy="7772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654235" y="2057400"/>
            <a:ext cx="19586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Reflection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709099" y="2816352"/>
            <a:ext cx="1848917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스스로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검증·교정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5760720"/>
            <a:ext cx="11183112" cy="713232"/>
          </a:xfrm>
          <a:prstGeom prst="rect">
            <a:avLst/>
          </a:prstGeom>
          <a:solidFill>
            <a:srgbClr val="E8F2FB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502920" y="5760720"/>
            <a:ext cx="50292" cy="713232"/>
          </a:xfrm>
          <a:prstGeom prst="rect">
            <a:avLst/>
          </a:prstGeom>
          <a:solidFill>
            <a:srgbClr val="1B9CE5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67512" y="5815584"/>
            <a:ext cx="10863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우리 supervisor_graph는 Routing(입력별 경로 분기)과 Supervisor(중앙 조율)를 결합하고, 검증 노드에 Reflection을 살짝 더합니다.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이론 3 · State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LangGraph의 핵심 — 모든 것은 State를 지난다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411480" cy="41148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2801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오케스트레이션의 심장은 '중앙 상태(State)'입니다. Agent들은 직접 대화하지 않고 State를 통해서만 주고받습니다.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Agentic Security 심화 · Day 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Malgun Gothic"/>
              </a:rPr>
              <a:t>12</a:t>
            </a:r>
          </a:p>
        </p:txBody>
      </p:sp>
      <p:sp>
        <p:nvSpPr>
          <p:cNvPr id="8" name="Shape 6"/>
          <p:cNvSpPr/>
          <p:nvPr/>
        </p:nvSpPr>
        <p:spPr>
          <a:xfrm>
            <a:off x="4722876" y="1920240"/>
            <a:ext cx="2743200" cy="658368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722876" y="19202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SecurityState (중앙 상태)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94476" y="2578608"/>
            <a:ext cx="0" cy="384048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540764" y="2962656"/>
            <a:ext cx="9107424" cy="0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540764" y="2962656"/>
            <a:ext cx="0" cy="393192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02920" y="3355848"/>
            <a:ext cx="2075688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9CE5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02920" y="3355848"/>
            <a:ext cx="2075688" cy="384048"/>
          </a:xfrm>
          <a:prstGeom prst="rect">
            <a:avLst/>
          </a:prstGeom>
          <a:solidFill>
            <a:srgbClr val="1B9CE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02920" y="3355848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target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76072" y="3776472"/>
            <a:ext cx="19293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점검 대상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3817620" y="2962656"/>
            <a:ext cx="0" cy="393192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2779776" y="3355848"/>
            <a:ext cx="2075688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E9488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2779776" y="3355848"/>
            <a:ext cx="2075688" cy="384048"/>
          </a:xfrm>
          <a:prstGeom prst="rect">
            <a:avLst/>
          </a:prstGeom>
          <a:solidFill>
            <a:srgbClr val="0E9488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779776" y="3355848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findings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852928" y="3776472"/>
            <a:ext cx="19293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누적 발견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6094476" y="2962656"/>
            <a:ext cx="0" cy="393192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5056632" y="3355848"/>
            <a:ext cx="2075688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056632" y="3355848"/>
            <a:ext cx="2075688" cy="38404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056632" y="3355848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cves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129784" y="3776472"/>
            <a:ext cx="19293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추출 CVE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8371332" y="2962656"/>
            <a:ext cx="0" cy="393192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7333488" y="3355848"/>
            <a:ext cx="2075688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2620A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7333488" y="3355848"/>
            <a:ext cx="2075688" cy="384048"/>
          </a:xfrm>
          <a:prstGeom prst="rect">
            <a:avLst/>
          </a:prstGeom>
          <a:solidFill>
            <a:srgbClr val="C2620A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333488" y="3355848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threat_ctx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406640" y="3776472"/>
            <a:ext cx="19293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위협 정보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10648188" y="2962656"/>
            <a:ext cx="0" cy="393192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9610344" y="3355848"/>
            <a:ext cx="2075688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9610344" y="3355848"/>
            <a:ext cx="2075688" cy="38404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9610344" y="3355848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verdict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683496" y="3776472"/>
            <a:ext cx="19293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 판정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502920" y="5760720"/>
            <a:ext cx="11183112" cy="713232"/>
          </a:xfrm>
          <a:prstGeom prst="rect">
            <a:avLst/>
          </a:prstGeom>
          <a:solidFill>
            <a:srgbClr val="E8F2FB"/>
          </a:solidFill>
          <a:ln/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502920" y="5760720"/>
            <a:ext cx="50292" cy="713232"/>
          </a:xfrm>
          <a:prstGeom prst="rect">
            <a:avLst/>
          </a:prstGeom>
          <a:solidFill>
            <a:srgbClr val="1B9CE5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67512" y="5815584"/>
            <a:ext cx="10863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 간 직접 호출은 금지입니다. 모든 전달은 State를 경유하므로, State만 보면 '지금까지 무슨 일이 있었는지' 전부 알 수 있습니다.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이론 3+ · 데이터 흐름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53035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그림으로 보는 State — 누가 무엇을 쓰는가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161288"/>
            <a:ext cx="411480" cy="41148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02920" y="12801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각 노드가 중앙 State에 무엇을 적어 넣는지 순서대로 따라가면, 그래프 전체가 한눈에 들어옵니다.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Agentic Security 심화 · Day 3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Malgun Gothic"/>
              </a:rPr>
              <a:t>13</a:t>
            </a:r>
          </a:p>
        </p:txBody>
      </p:sp>
      <p:sp>
        <p:nvSpPr>
          <p:cNvPr id="9" name="Shape 6"/>
          <p:cNvSpPr/>
          <p:nvPr/>
        </p:nvSpPr>
        <p:spPr>
          <a:xfrm>
            <a:off x="502920" y="2194560"/>
            <a:ext cx="1543812" cy="86868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48640" y="2194560"/>
            <a:ext cx="14523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router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2010156" y="219456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7200" y="3172968"/>
            <a:ext cx="16352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route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(점검 경로)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430780" y="2194560"/>
            <a:ext cx="1543812" cy="868680"/>
          </a:xfrm>
          <a:prstGeom prst="rect">
            <a:avLst/>
          </a:prstGeom>
          <a:solidFill>
            <a:srgbClr val="1B9CE5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2476500" y="2194560"/>
            <a:ext cx="14523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sast·secret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938016" y="219456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385060" y="3172968"/>
            <a:ext cx="16352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findings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(발견 누적)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358640" y="2194560"/>
            <a:ext cx="1543812" cy="8686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4404360" y="2194560"/>
            <a:ext cx="14523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deps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865876" y="219456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312920" y="3172968"/>
            <a:ext cx="16352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cves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(CVE 추출)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286500" y="2194560"/>
            <a:ext cx="1543812" cy="868680"/>
          </a:xfrm>
          <a:prstGeom prst="rect">
            <a:avLst/>
          </a:prstGeom>
          <a:solidFill>
            <a:srgbClr val="C2620A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6332220" y="2194560"/>
            <a:ext cx="14523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threat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793736" y="219456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240780" y="3172968"/>
            <a:ext cx="16352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threat_ctx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(위협 정보)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8214360" y="2194560"/>
            <a:ext cx="1543812" cy="8686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8260080" y="2194560"/>
            <a:ext cx="14523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review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9721596" y="219456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168640" y="3172968"/>
            <a:ext cx="16352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verdict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(판정)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10142220" y="2194560"/>
            <a:ext cx="1543812" cy="868680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10187940" y="2194560"/>
            <a:ext cx="14523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report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10096500" y="3172968"/>
            <a:ext cx="16352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report_path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(산출물)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02920" y="5760720"/>
            <a:ext cx="11183112" cy="713232"/>
          </a:xfrm>
          <a:prstGeom prst="rect">
            <a:avLst/>
          </a:prstGeom>
          <a:solidFill>
            <a:srgbClr val="E8F2FB"/>
          </a:solidFill>
          <a:ln/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502920" y="5760720"/>
            <a:ext cx="50292" cy="713232"/>
          </a:xfrm>
          <a:prstGeom prst="rect">
            <a:avLst/>
          </a:prstGeom>
          <a:solidFill>
            <a:srgbClr val="1B9CE5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667512" y="5815584"/>
            <a:ext cx="10863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디버깅 요령: 그래프가 이상하면 이 그림 순서대로 State 필드를 확인하세요. 어느 칸이 비어 있는지가 곧 고장 지점입니다.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이론 4 · 검증·안전장치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 루프와 HITL — 멈춤과 기록의 원리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411480" cy="41148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2801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자동화의 신뢰는 '잘 도는가'가 아니라 '위험할 때 멈추고 기록하는가'에서 옵니다. 하네스 요소⑤입니다.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Agentic Security 심화 · Day 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Malgun Gothic"/>
              </a:rPr>
              <a:t>14</a:t>
            </a:r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11183112" cy="9144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67512" y="187452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80160" y="1929384"/>
            <a:ext cx="102229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PASS / RETRY / BLOCK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결과가 기준을 만족하면 PASS, 부족하면 RETRY(상한 2회), 심각·정책 위반이면 BLOCK. 이 판정이 그래프 경로를 바꿉니다.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2916936"/>
            <a:ext cx="11183112" cy="9144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" y="2916936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HITL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280160" y="2971800"/>
            <a:ext cx="102229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 승인 강제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High 이상 발견 앞에서 파이프라인이 멈추고 사람의 승인을 받습니다. 기본값은 거부(deny-by-default)입니다.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959352"/>
            <a:ext cx="11183112" cy="9144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7512" y="3959352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감사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80160" y="4014216"/>
            <a:ext cx="102229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모든 결정 기록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라우팅·판정·승인을 시계열로 audit_log.jsonl에 남깁니다(append-only). 누가·언제·무엇을·왜·결과의 5W가 남습니다.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전환 그림 · 진화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53035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그림으로 보는 진화 — 단일에서 Supervisor까지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161288"/>
            <a:ext cx="411480" cy="41148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02920" y="12801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중앙 지휘자가 필요한지 한 장으로 봅니다. 에이전트를 늘리는 것만으로는 부족하고, 조율 구조가 있어야 합니다.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Agentic Security 심화 · Day 3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Malgun Gothic"/>
              </a:rPr>
              <a:t>15</a:t>
            </a:r>
          </a:p>
        </p:txBody>
      </p:sp>
      <p:sp>
        <p:nvSpPr>
          <p:cNvPr id="9" name="Shape 6"/>
          <p:cNvSpPr/>
          <p:nvPr/>
        </p:nvSpPr>
        <p:spPr>
          <a:xfrm>
            <a:off x="502920" y="2286000"/>
            <a:ext cx="3471672" cy="868680"/>
          </a:xfrm>
          <a:prstGeom prst="rect">
            <a:avLst/>
          </a:prstGeom>
          <a:solidFill>
            <a:srgbClr val="8A8A8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48640" y="2286000"/>
            <a:ext cx="338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단일 Agent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938016" y="228600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7200" y="3264408"/>
            <a:ext cx="35631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명이 다 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넓히면 얕아짐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358640" y="2286000"/>
            <a:ext cx="3471672" cy="868680"/>
          </a:xfrm>
          <a:prstGeom prst="rect">
            <a:avLst/>
          </a:prstGeom>
          <a:solidFill>
            <a:srgbClr val="C2620A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404360" y="2286000"/>
            <a:ext cx="338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다수 Agent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793736" y="228600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312920" y="3264408"/>
            <a:ext cx="35631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여럿이지만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조율 없으면 혼란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214360" y="2286000"/>
            <a:ext cx="3471672" cy="8686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8260080" y="2286000"/>
            <a:ext cx="338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Supervisor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168640" y="3264408"/>
            <a:ext cx="35631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중앙이 역할·순서·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검증을 통제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02920" y="5760720"/>
            <a:ext cx="11183112" cy="713232"/>
          </a:xfrm>
          <a:prstGeom prst="rect">
            <a:avLst/>
          </a:prstGeom>
          <a:solidFill>
            <a:srgbClr val="E8F2FB"/>
          </a:solidFill>
          <a:ln/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502920" y="5760720"/>
            <a:ext cx="50292" cy="713232"/>
          </a:xfrm>
          <a:prstGeom prst="rect">
            <a:avLst/>
          </a:prstGeom>
          <a:solidFill>
            <a:srgbClr val="1B9CE5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667512" y="5815584"/>
            <a:ext cx="10863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핵심은 '몇 개'가 아니라 '어떻게 조율하는가'입니다. 중앙 Supervisor가 있어야 검증·HITL·감사를 한곳에 둘 수 있습니다.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연결 · 조립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53035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어제까지의 부품이 오늘의 노드가 된다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161288"/>
            <a:ext cx="411480" cy="41148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02920" y="12801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1~2에서 단독 실행한 Agent들이 Day 3 그래프의 노드로 그대로 들어갑니다. 새 개념이 아니라 조립입니다.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Agentic Security 심화 · Day 3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Malgun Gothic"/>
              </a:rPr>
              <a:t>16</a:t>
            </a:r>
          </a:p>
        </p:txBody>
      </p:sp>
      <p:sp>
        <p:nvSpPr>
          <p:cNvPr id="9" name="Shape 6"/>
          <p:cNvSpPr/>
          <p:nvPr/>
        </p:nvSpPr>
        <p:spPr>
          <a:xfrm>
            <a:off x="502920" y="2286000"/>
            <a:ext cx="3471672" cy="868680"/>
          </a:xfrm>
          <a:prstGeom prst="rect">
            <a:avLst/>
          </a:prstGeom>
          <a:solidFill>
            <a:srgbClr val="1B9CE5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48640" y="2286000"/>
            <a:ext cx="338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1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938016" y="228600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7200" y="3264408"/>
            <a:ext cx="35631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sast_agent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단독 실행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(정책·스키마)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358640" y="2286000"/>
            <a:ext cx="3471672" cy="868680"/>
          </a:xfrm>
          <a:prstGeom prst="rect">
            <a:avLst/>
          </a:prstGeom>
          <a:solidFill>
            <a:srgbClr val="0E9488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404360" y="2286000"/>
            <a:ext cx="338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2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793736" y="228600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312920" y="3264408"/>
            <a:ext cx="35631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secret·deps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단독 실행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(도구화)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214360" y="2286000"/>
            <a:ext cx="3471672" cy="8686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8260080" y="2286000"/>
            <a:ext cx="338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168640" y="3264408"/>
            <a:ext cx="35631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Supervisor가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노드로 조립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(조율·검증)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02920" y="5760720"/>
            <a:ext cx="11183112" cy="713232"/>
          </a:xfrm>
          <a:prstGeom prst="rect">
            <a:avLst/>
          </a:prstGeom>
          <a:solidFill>
            <a:srgbClr val="E8F2FB"/>
          </a:solidFill>
          <a:ln/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502920" y="5760720"/>
            <a:ext cx="50292" cy="713232"/>
          </a:xfrm>
          <a:prstGeom prst="rect">
            <a:avLst/>
          </a:prstGeom>
          <a:solidFill>
            <a:srgbClr val="1B9CE5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667512" y="5815584"/>
            <a:ext cx="10863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단독 실행 때와 같은 함수가 그대로 노드가 됩니다. 달라지는 것은 '누가 언제 부르고, 결과를 어디에 모으는가'뿐입니다.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에이전틱 코딩 · 패턴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Sub Agent와 Review Loop — 위임과 자기검증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411480" cy="41148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2801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에이전틱 코딩에서 널리 쓰이는 두 패턴입니다. 우리 Supervisor 구조가 이 패턴의 보안 버전입니다.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Agentic Security 심화 · Day 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Malgun Gothic"/>
              </a:rPr>
              <a:t>17</a:t>
            </a:r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11183112" cy="9144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67512" y="187452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Sub Agent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80160" y="1929384"/>
            <a:ext cx="102229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하위 작업 위임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메인 흐름이 모든 일을 떠안지 않고, 독립된 하위 에이전트에 작업을 떼어 맡깁니다. 메인에는 정제된 결과만 돌아와 컨텍스트가 깨끗하게 유지됩니다.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2916936"/>
            <a:ext cx="11183112" cy="9144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" y="2916936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Review Loop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280160" y="2971800"/>
            <a:ext cx="102229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자기 검증 순환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결과를 그대로 받아들이지 않고, 별도의 검증 단계가 기준 충족 여부를 판정합니다. 부족하면 다시 분석시킵니다 — 우리 PASS/RETRY/BLOCK이 이 패턴입니다.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959352"/>
            <a:ext cx="11183112" cy="9144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7512" y="3959352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연결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80160" y="4014216"/>
            <a:ext cx="102229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보안 버전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우리 5개 Agent는 Sub Agent 패턴의 보안 특화이고, review 노드는 Review Loop의 구현입니다. 같은 발상을 차량보안 점검에 옮긴 것입니다.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5760720"/>
            <a:ext cx="11183112" cy="713232"/>
          </a:xfrm>
          <a:prstGeom prst="rect">
            <a:avLst/>
          </a:prstGeom>
          <a:solidFill>
            <a:srgbClr val="E8F2FB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02920" y="5760720"/>
            <a:ext cx="50292" cy="713232"/>
          </a:xfrm>
          <a:prstGeom prst="rect">
            <a:avLst/>
          </a:prstGeom>
          <a:solidFill>
            <a:srgbClr val="1B9CE5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67512" y="5815584"/>
            <a:ext cx="10863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두 패턴은 특정 책이나 도구의 발명이 아니라, 에이전틱 시스템 설계의 공통 어휘입니다. 본 과정은 이를 보안 점검에 적용합니다.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이론 +1 · 강사 노트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강사 노트 — 단일과 멀티, 무엇이 진짜 차이인가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411480" cy="41148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2801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수강생이 자주 혼동하는 지점입니다. '모델을 여러 개 쓰는 것'과 '역할을 나누는 것'은 다릅니다.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Agentic Security 심화 · Day 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Malgun Gothic"/>
              </a:rPr>
              <a:t>18</a:t>
            </a:r>
          </a:p>
        </p:txBody>
      </p:sp>
      <p:sp>
        <p:nvSpPr>
          <p:cNvPr id="8" name="Shape 6"/>
          <p:cNvSpPr/>
          <p:nvPr/>
        </p:nvSpPr>
        <p:spPr>
          <a:xfrm>
            <a:off x="502920" y="1965960"/>
            <a:ext cx="5454396" cy="3566160"/>
          </a:xfrm>
          <a:prstGeom prst="rect">
            <a:avLst/>
          </a:prstGeom>
          <a:solidFill>
            <a:srgbClr val="F7F8FA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02920" y="1965960"/>
            <a:ext cx="5454396" cy="5486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04088" y="2112264"/>
            <a:ext cx="5052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C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흔한 오해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04088" y="2532888"/>
            <a:ext cx="505206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'멀티 = 모델을 여러 개 띄우는 것'</a:t>
            </a:r>
            <a:endParaRPr lang="en-US" sz="11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'에이전트가 많을수록 똑똑하다'</a:t>
            </a:r>
            <a:endParaRPr lang="en-US" sz="11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'협업하면 자동으로 품질이 오른다'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31636" y="1965960"/>
            <a:ext cx="5454396" cy="3566160"/>
          </a:xfrm>
          <a:prstGeom prst="rect">
            <a:avLst/>
          </a:prstGeom>
          <a:solidFill>
            <a:srgbClr val="F7F8FA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31636" y="1965960"/>
            <a:ext cx="5454396" cy="54864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32804" y="2112264"/>
            <a:ext cx="5052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32804" y="2532888"/>
            <a:ext cx="505206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멀티 = 역할과 책임을 나누는 것</a:t>
            </a:r>
            <a:endParaRPr lang="en-US" sz="11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조율 없는 다수는 오히려 혼란</a:t>
            </a:r>
            <a:endParaRPr lang="en-US" sz="11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중앙 통제가 있어야 품질이 오름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5760720"/>
            <a:ext cx="11183112" cy="548640"/>
          </a:xfrm>
          <a:prstGeom prst="rect">
            <a:avLst/>
          </a:prstGeom>
          <a:solidFill>
            <a:srgbClr val="E8F2FB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02920" y="5760720"/>
            <a:ext cx="50292" cy="548640"/>
          </a:xfrm>
          <a:prstGeom prst="rect">
            <a:avLst/>
          </a:prstGeom>
          <a:solidFill>
            <a:srgbClr val="1B9CE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67512" y="5815584"/>
            <a:ext cx="10863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강사 팁: 같은 LLM 하나로도 역할만 나누면 멀티 에이전트입니다. 핵심은 '몇 개'가 아니라 '어떻게 나누고 조율하는가'입니다.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이론 점검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Malgun Gothic"/>
              </a:rPr>
              <a:t>여기까지 — 개념·실습 병행 미니 점검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411480" cy="41148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Agentic Security 심화 · Day 3 · 이론 점검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Malgun Gothic"/>
              </a:rPr>
              <a:t>19</a:t>
            </a:r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여기까지 이해했는지 스스로 점검해 봅니다.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286000"/>
            <a:ext cx="11183112" cy="512064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85800" y="2423160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85800" y="2404872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69848" y="2286000"/>
            <a:ext cx="104515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단일에서 멀티로 가는 세 가지 이유를 든다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502920" y="2907792"/>
            <a:ext cx="11183112" cy="512064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85800" y="3044952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85800" y="3026664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69848" y="2907792"/>
            <a:ext cx="104515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5대 패턴 중 본 과정이 채택한 둘을 안다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502920" y="3529584"/>
            <a:ext cx="11183112" cy="512064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85800" y="3666744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5800" y="3648456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9848" y="3529584"/>
            <a:ext cx="104515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State를 경유해야 하는 이유를 설명한다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502920" y="4151376"/>
            <a:ext cx="11183112" cy="512064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85800" y="4288536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5800" y="427024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69848" y="4151376"/>
            <a:ext cx="104515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 3판정(PASS/RETRY/BLOCK)을 구분한다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502920" y="5760720"/>
            <a:ext cx="11183112" cy="713232"/>
          </a:xfrm>
          <a:prstGeom prst="rect">
            <a:avLst/>
          </a:prstGeom>
          <a:solidFill>
            <a:srgbClr val="E8F2FB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502920" y="5760720"/>
            <a:ext cx="50292" cy="713232"/>
          </a:xfrm>
          <a:prstGeom prst="rect">
            <a:avLst/>
          </a:prstGeom>
          <a:solidFill>
            <a:srgbClr val="1B9CE5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67512" y="5815584"/>
            <a:ext cx="10863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Malgun Gothic"/>
              </a:rPr>
              <a:t>네 가지에 답할 수 있으면 실습·산출물 확인(LAB 3)으로 진행합니다.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루프 (LAB 3)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274320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LAB 3 — Supervisor로 5개 Agent 조율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3703320"/>
            <a:ext cx="548640" cy="45720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886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이론을 코드로 옮깁니다. 어제까지 만든 도구·Agent를 중앙 그래프가 지휘하게 합니다.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6400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Agentic Security 심화 · Day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Malgun Gothic"/>
              </a:rPr>
              <a:t>20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LAB 3 · 개요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LAB 3가 하는 일 — 한눈에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411480" cy="41148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2801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첫 실습의 목표·준비물·사용 파일·성공 신호입니다.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Agentic Security 심화 · Day 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Malgun Gothic"/>
              </a:rPr>
              <a:t>21</a:t>
            </a:r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5490972" cy="1956816"/>
          </a:xfrm>
          <a:prstGeom prst="rect">
            <a:avLst/>
          </a:prstGeom>
          <a:solidFill>
            <a:srgbClr val="FFFFFF"/>
          </a:solidFill>
          <a:ln w="19050">
            <a:solidFill>
              <a:srgbClr val="1B9CE5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02920" y="1874520"/>
            <a:ext cx="5490972" cy="457200"/>
          </a:xfrm>
          <a:prstGeom prst="rect">
            <a:avLst/>
          </a:prstGeom>
          <a:solidFill>
            <a:srgbClr val="1B9CE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" y="1874520"/>
            <a:ext cx="51617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441448"/>
            <a:ext cx="51252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5개 Agent를 중앙에서 조율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Router 분기 직접 개조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95060" y="1874520"/>
            <a:ext cx="5490972" cy="1956816"/>
          </a:xfrm>
          <a:prstGeom prst="rect">
            <a:avLst/>
          </a:prstGeom>
          <a:solidFill>
            <a:srgbClr val="FFFFFF"/>
          </a:solidFill>
          <a:ln w="19050">
            <a:solidFill>
              <a:srgbClr val="0E9488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195060" y="1874520"/>
            <a:ext cx="5490972" cy="457200"/>
          </a:xfrm>
          <a:prstGeom prst="rect">
            <a:avLst/>
          </a:prstGeom>
          <a:solidFill>
            <a:srgbClr val="0E9488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359652" y="1874520"/>
            <a:ext cx="51617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준비물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77940" y="2441448"/>
            <a:ext cx="51252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1~2 산출물(정책·도구)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langgraph 설치(없으면 fallback)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4032504"/>
            <a:ext cx="5490972" cy="1956816"/>
          </a:xfrm>
          <a:prstGeom prst="rect">
            <a:avLst/>
          </a:prstGeom>
          <a:solidFill>
            <a:srgbClr val="FFFFFF"/>
          </a:solidFill>
          <a:ln w="19050">
            <a:solidFill>
              <a:srgbClr val="C2620A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02920" y="4032504"/>
            <a:ext cx="5490972" cy="457200"/>
          </a:xfrm>
          <a:prstGeom prst="rect">
            <a:avLst/>
          </a:prstGeom>
          <a:solidFill>
            <a:srgbClr val="C2620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67512" y="4032504"/>
            <a:ext cx="51617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 파일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4599432"/>
            <a:ext cx="51252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orchestrator/supervisor_graph.py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agents/ 5종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95060" y="4032504"/>
            <a:ext cx="5490972" cy="1956816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6B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195060" y="4032504"/>
            <a:ext cx="5490972" cy="457200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359652" y="4032504"/>
            <a:ext cx="51617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성공 신호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77940" y="4599432"/>
            <a:ext cx="51252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router→report 흐름 출력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lab3_report.md 생성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LAB 3 · 그래프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supervisor_graph의 구조 — 노드와 배선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411480" cy="41148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2801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수강생이 손대는 곳(노드 내부)과 손대지 않는 곳(배선)을 분명히 구분합니다.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Agentic Security 심화 · Day 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Malgun Gothic"/>
              </a:rPr>
              <a:t>22</a:t>
            </a:r>
          </a:p>
        </p:txBody>
      </p:sp>
      <p:sp>
        <p:nvSpPr>
          <p:cNvPr id="8" name="Shape 6"/>
          <p:cNvSpPr/>
          <p:nvPr/>
        </p:nvSpPr>
        <p:spPr>
          <a:xfrm>
            <a:off x="4722876" y="1920240"/>
            <a:ext cx="2743200" cy="658368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722876" y="19202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Supervisor (router 진입)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94476" y="2578608"/>
            <a:ext cx="0" cy="384048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540764" y="2962656"/>
            <a:ext cx="9107424" cy="0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540764" y="2962656"/>
            <a:ext cx="0" cy="393192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02920" y="3355848"/>
            <a:ext cx="2075688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9CE5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02920" y="3355848"/>
            <a:ext cx="2075688" cy="384048"/>
          </a:xfrm>
          <a:prstGeom prst="rect">
            <a:avLst/>
          </a:prstGeom>
          <a:solidFill>
            <a:srgbClr val="1B9CE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02920" y="3355848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sast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76072" y="3776472"/>
            <a:ext cx="19293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코드 분석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3817620" y="2962656"/>
            <a:ext cx="0" cy="393192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2779776" y="3355848"/>
            <a:ext cx="2075688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E9488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2779776" y="3355848"/>
            <a:ext cx="2075688" cy="384048"/>
          </a:xfrm>
          <a:prstGeom prst="rect">
            <a:avLst/>
          </a:prstGeom>
          <a:solidFill>
            <a:srgbClr val="0E9488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779776" y="3355848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secret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852928" y="3776472"/>
            <a:ext cx="19293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비밀 탐지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6094476" y="2962656"/>
            <a:ext cx="0" cy="393192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5056632" y="3355848"/>
            <a:ext cx="2075688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056632" y="3355848"/>
            <a:ext cx="2075688" cy="38404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056632" y="3355848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deps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129784" y="3776472"/>
            <a:ext cx="19293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의존성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8371332" y="2962656"/>
            <a:ext cx="0" cy="393192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7333488" y="3355848"/>
            <a:ext cx="2075688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2620A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7333488" y="3355848"/>
            <a:ext cx="2075688" cy="384048"/>
          </a:xfrm>
          <a:prstGeom prst="rect">
            <a:avLst/>
          </a:prstGeom>
          <a:solidFill>
            <a:srgbClr val="C2620A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333488" y="3355848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threat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406640" y="3776472"/>
            <a:ext cx="19293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위협 조회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10648188" y="2962656"/>
            <a:ext cx="0" cy="393192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9610344" y="3355848"/>
            <a:ext cx="2075688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9610344" y="3355848"/>
            <a:ext cx="2075688" cy="38404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9610344" y="3355848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report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683496" y="3776472"/>
            <a:ext cx="19293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리포트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502920" y="5760720"/>
            <a:ext cx="11183112" cy="713232"/>
          </a:xfrm>
          <a:prstGeom prst="rect">
            <a:avLst/>
          </a:prstGeom>
          <a:solidFill>
            <a:srgbClr val="E8F2FB"/>
          </a:solidFill>
          <a:ln/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502920" y="5760720"/>
            <a:ext cx="50292" cy="713232"/>
          </a:xfrm>
          <a:prstGeom prst="rect">
            <a:avLst/>
          </a:prstGeom>
          <a:solidFill>
            <a:srgbClr val="1B9CE5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67512" y="5815584"/>
            <a:ext cx="10863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손대는 곳: route_input 분기·각 노드 프롬프트. 손대지 않는 곳: add_node·add_edge·compile (배선은 템플릿 고정).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LAB 3 · 실행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파이프라인 실행 — ZIP 명령 1:1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411480" cy="41148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2801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정책 파일은 어제 만든 CLAUDE.md를 그대로 씁니다. 명령은 ZIP 실제 파일과 일치합니다.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Agentic Security 심화 · Day 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Malgun Gothic"/>
              </a:rPr>
              <a:t>23</a:t>
            </a:r>
          </a:p>
        </p:txBody>
      </p:sp>
      <p:sp>
        <p:nvSpPr>
          <p:cNvPr id="8" name="Text 6"/>
          <p:cNvSpPr/>
          <p:nvPr/>
        </p:nvSpPr>
        <p:spPr>
          <a:xfrm>
            <a:off x="502920" y="1682496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011680"/>
            <a:ext cx="11183112" cy="777240"/>
          </a:xfrm>
          <a:prstGeom prst="rect">
            <a:avLst/>
          </a:prstGeom>
          <a:solidFill>
            <a:srgbClr val="23272E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85800" y="2121408"/>
            <a:ext cx="108173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orchestrator/supervisor_graph.py --target sample_app/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688336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콘솔 출력 (노드 전환 흐름)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017520"/>
            <a:ext cx="11183112" cy="2011680"/>
          </a:xfrm>
          <a:prstGeom prst="rect">
            <a:avLst/>
          </a:prstGeom>
          <a:solidFill>
            <a:srgbClr val="23272E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85800" y="3127248"/>
            <a:ext cx="10817352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[router]  route=[sast, secret, deps, threat, report]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[sast]    findings 적재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[deps]    CVE 4건 추출 → State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[reviewer] verdict=PASS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[report]  reports/lab3_report.md 생성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5257800"/>
            <a:ext cx="11183112" cy="548640"/>
          </a:xfrm>
          <a:prstGeom prst="rect">
            <a:avLst/>
          </a:prstGeom>
          <a:solidFill>
            <a:srgbClr val="E8F2FB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02920" y="5257800"/>
            <a:ext cx="50292" cy="548640"/>
          </a:xfrm>
          <a:prstGeom prst="rect">
            <a:avLst/>
          </a:prstGeom>
          <a:solidFill>
            <a:srgbClr val="1B9CE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67512" y="5312664"/>
            <a:ext cx="10863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콘솔의 노드 전환 순서가 곧 그래프가 살아 움직이는 모습입니다. Day 1 단일 SAST와 비교해 협업의 효과를 봅니다.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LAB 3 · Router 개조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Router 개조 과제 — 분기 한 줄의 힘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411480" cy="41148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2801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route_input 함수의 분기 조건을 바꿔, 입력에 따라 경로가 달라지는 것을 직접 만듭니다.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Agentic Security 심화 · Day 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Malgun Gothic"/>
              </a:rPr>
              <a:t>24</a:t>
            </a:r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11183112" cy="9144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67512" y="187452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과제1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80160" y="1929384"/>
            <a:ext cx="102229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control/ 이중 점검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sample_app/control/ 경로는 sast와 secret을 모두 거치도록 분기를 추가합니다. 차량 제어 모듈을 더 엄격히 보는 것입니다.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2916936"/>
            <a:ext cx="11183112" cy="9144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" y="2916936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과제2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280160" y="2971800"/>
            <a:ext cx="102229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CVE 직행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입력에 CVE 식별자가 있으면 threat 노드로 직행하는 분기를 추가합니다. 이미 아는 취약점은 위협 조회부터 합니다.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959352"/>
            <a:ext cx="11183112" cy="9144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7512" y="3959352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확인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80160" y="4014216"/>
            <a:ext cx="102229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경로 변화 관찰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개조 후 [router] 로그의 route 값이 실제로 달라지는지 확인합니다. 배선이 아니라 분기 조건만 바꿨음에 주목합니다.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LAB 3 · 단일 vs 멀티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워크드 비교 — 같은 대상, 단일 vs 멀티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411480" cy="41148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2801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1 단일 SAST와 오늘 멀티 협업의 결과를 같은 대상으로 비교합니다. 분업의 효과가 숫자로 드러납니다.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Agentic Security 심화 · Day 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Malgun Gothic"/>
              </a:rPr>
              <a:t>25</a:t>
            </a:r>
          </a:p>
        </p:txBody>
      </p:sp>
      <p:sp>
        <p:nvSpPr>
          <p:cNvPr id="8" name="Text 6"/>
          <p:cNvSpPr/>
          <p:nvPr/>
        </p:nvSpPr>
        <p:spPr>
          <a:xfrm>
            <a:off x="502920" y="1682496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1 단일 SAST (vulnerability.py)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011680"/>
            <a:ext cx="11183112" cy="914400"/>
          </a:xfrm>
          <a:prstGeom prst="rect">
            <a:avLst/>
          </a:prstGeom>
          <a:solidFill>
            <a:srgbClr val="23272E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85800" y="2121408"/>
            <a:ext cx="10817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발견 8건 — SAST 한 종류만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825496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3 멀티 협업 (sample_app 전체)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154680"/>
            <a:ext cx="11183112" cy="1463040"/>
          </a:xfrm>
          <a:prstGeom prst="rect">
            <a:avLst/>
          </a:prstGeom>
          <a:solidFill>
            <a:srgbClr val="23272E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85800" y="3264408"/>
            <a:ext cx="1081735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발견 16건 — SAST + Secret + Dependency 협업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SAST 9건 + Secret 3건 + Dependency 4건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각 전문 Agent가 자기 영역을 깊이 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4846320"/>
            <a:ext cx="11183112" cy="548640"/>
          </a:xfrm>
          <a:prstGeom prst="rect">
            <a:avLst/>
          </a:prstGeom>
          <a:solidFill>
            <a:srgbClr val="E8F2FB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02920" y="4846320"/>
            <a:ext cx="50292" cy="548640"/>
          </a:xfrm>
          <a:prstGeom prst="rect">
            <a:avLst/>
          </a:prstGeom>
          <a:solidFill>
            <a:srgbClr val="1B9CE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67512" y="4901184"/>
            <a:ext cx="10863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단일이 놓친 비밀·의존성 취약점을 전문 Agent들이 잡아냅니다. 이것이 '역할 분리'의 구체적 효과입니다.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LAB 3 · State 추적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State를 따라가며 디버깅하기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411480" cy="41148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2801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그래프가 멈추거나 이상하면, State를 출력해 '어디까지 무엇이 담겼는지' 추적합니다.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Agentic Security 심화 · Day 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Malgun Gothic"/>
              </a:rPr>
              <a:t>26</a:t>
            </a:r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11183112" cy="9144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67512" y="187452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80160" y="1929384"/>
            <a:ext cx="102229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노드별 State 확인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각 노드 진입·종료 시 findings·cves의 개수를 로그로 찍어, 어느 노드에서 비는지 봅니다.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2916936"/>
            <a:ext cx="11183112" cy="9144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" y="2916936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280160" y="2971800"/>
            <a:ext cx="102229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흔한 단절 지점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deps가 cves를 State에 안 넣으면, threat가 빈 입력을 받습니다. State 전달이 끊긴 곳을 찾습니다.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959352"/>
            <a:ext cx="11183112" cy="9144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7512" y="3959352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80160" y="4014216"/>
            <a:ext cx="102229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배선 복원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배선을 잘못 건드려 KeyError가 나면, git checkout으로 supervisor_graph를 템플릿 상태로 되돌립니다.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루프 (LAB 4)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274320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LAB 4 — HITL · 검증 · Audit Log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3703320"/>
            <a:ext cx="548640" cy="45720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886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자동화에 '멈춤'과 '기록'을 심습니다. 위험 항목 앞에서 사람의 승인을 강제합니다.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6400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Agentic Security 심화 · Day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Malgun Gothic"/>
              </a:rPr>
              <a:t>27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LAB 4 · HITL 실행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53035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HITL 모드 실행 — 위험 앞에서 멈춘다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161288"/>
            <a:ext cx="411480" cy="41148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02920" y="12801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--hitl 플래그를 켜면 High 이상 발견에서 파이프라인이 멈추고 승인을 기다립니다.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Agentic Security 심화 · Day 3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Malgun Gothic"/>
              </a:rPr>
              <a:t>28</a:t>
            </a:r>
          </a:p>
        </p:txBody>
      </p:sp>
      <p:sp>
        <p:nvSpPr>
          <p:cNvPr id="9" name="Text 6"/>
          <p:cNvSpPr/>
          <p:nvPr/>
        </p:nvSpPr>
        <p:spPr>
          <a:xfrm>
            <a:off x="502920" y="1682496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실행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02920" y="2011680"/>
            <a:ext cx="11183112" cy="777240"/>
          </a:xfrm>
          <a:prstGeom prst="rect">
            <a:avLst/>
          </a:prstGeom>
          <a:solidFill>
            <a:srgbClr val="23272E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85800" y="2121408"/>
            <a:ext cx="108173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orchestrator/supervisor_graph.py --target sample_app/ --hitl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2688336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승인 대기 (대화형 실행 시)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02920" y="3017520"/>
            <a:ext cx="11183112" cy="1463040"/>
          </a:xfrm>
          <a:prstGeom prst="rect">
            <a:avLst/>
          </a:prstGeom>
          <a:solidFill>
            <a:srgbClr val="23272E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85800" y="3127248"/>
            <a:ext cx="1081735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[HITL] 승인 대기 — High SQL Injection 의심 (vulnerability.py:39)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'확정'으로 포함할까요? [approve / reject &lt;사유&gt;]: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비대화형(자동 채점) 환경에서는 기본값 거부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2920" y="4709160"/>
            <a:ext cx="11183112" cy="548640"/>
          </a:xfrm>
          <a:prstGeom prst="rect">
            <a:avLst/>
          </a:prstGeom>
          <a:solidFill>
            <a:srgbClr val="E8F2FB"/>
          </a:solidFill>
          <a:ln/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502920" y="4709160"/>
            <a:ext cx="50292" cy="548640"/>
          </a:xfrm>
          <a:prstGeom prst="rect">
            <a:avLst/>
          </a:prstGeom>
          <a:solidFill>
            <a:srgbClr val="1B9CE5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67512" y="4764024"/>
            <a:ext cx="10863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원칙: 기본값은 거부(deny-by-default), 승인 없이 우회 불가, 모든 결정은 기록. 안전이 편의보다 우선합니다.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LAB 4 · 판정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 3판정 — PASS · RETRY · BLOCK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411480" cy="41148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2801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 노드가 내리는 세 가지 판정이 그래프의 다음 경로를 결정합니다.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Agentic Security 심화 · Day 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Malgun Gothic"/>
              </a:rPr>
              <a:t>29</a:t>
            </a:r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3617976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6B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02920" y="2011680"/>
            <a:ext cx="3617976" cy="548640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" y="20756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" y="2286000"/>
            <a:ext cx="347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PASS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30936" y="2633472"/>
            <a:ext cx="33619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기준 충족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다음 단계로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85488" y="2011680"/>
            <a:ext cx="3617976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2620A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285488" y="2011680"/>
            <a:ext cx="3617976" cy="548640"/>
          </a:xfrm>
          <a:prstGeom prst="rect">
            <a:avLst/>
          </a:prstGeom>
          <a:solidFill>
            <a:srgbClr val="C2620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395216" y="20756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↻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58640" y="2286000"/>
            <a:ext cx="347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RETRY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413504" y="2633472"/>
            <a:ext cx="33619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일부 미달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재분석(상한 2회)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68056" y="2011680"/>
            <a:ext cx="3617976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068056" y="2011680"/>
            <a:ext cx="3617976" cy="5486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177784" y="20756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✗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41208" y="2286000"/>
            <a:ext cx="347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BLOCK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196072" y="2633472"/>
            <a:ext cx="33619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심각·정책 위반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사람에게 에스컬레이션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5760720"/>
            <a:ext cx="11183112" cy="713232"/>
          </a:xfrm>
          <a:prstGeom prst="rect">
            <a:avLst/>
          </a:prstGeom>
          <a:solidFill>
            <a:srgbClr val="E8F2FB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02920" y="5760720"/>
            <a:ext cx="50292" cy="713232"/>
          </a:xfrm>
          <a:prstGeom prst="rect">
            <a:avLst/>
          </a:prstGeom>
          <a:solidFill>
            <a:srgbClr val="1B9CE5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67512" y="5815584"/>
            <a:ext cx="10863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RETRY에 상한(2회)이 없으면 무한 루프에 빠집니다. 안전장치에도 안전장치가 필요합니다.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LAB 4+ · 분기 그림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그림으로 보는 검증 분기 — 판정이 경로를 바꾼다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411480" cy="41148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2801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review 노드의 세 판정이 그래프를 어디로 보내는지 시각화합니다. 조건부 Edge의 실체입니다.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Agentic Security 심화 · Day 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Malgun Gothic"/>
              </a:rPr>
              <a:t>30</a:t>
            </a:r>
          </a:p>
        </p:txBody>
      </p:sp>
      <p:sp>
        <p:nvSpPr>
          <p:cNvPr id="8" name="Shape 6"/>
          <p:cNvSpPr/>
          <p:nvPr/>
        </p:nvSpPr>
        <p:spPr>
          <a:xfrm>
            <a:off x="502920" y="2194560"/>
            <a:ext cx="2507742" cy="86868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2194560"/>
            <a:ext cx="24163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review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974086" y="219456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172968"/>
            <a:ext cx="259918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 검증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(품질·근거)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94710" y="2194560"/>
            <a:ext cx="2507742" cy="868680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440430" y="2194560"/>
            <a:ext cx="24163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PASS →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865876" y="219456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48990" y="3172968"/>
            <a:ext cx="259918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hitl로 전진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(승인 단계)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86500" y="2194560"/>
            <a:ext cx="2507742" cy="868680"/>
          </a:xfrm>
          <a:prstGeom prst="rect">
            <a:avLst/>
          </a:prstGeom>
          <a:solidFill>
            <a:srgbClr val="C2620A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332220" y="2194560"/>
            <a:ext cx="24163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RETRY ↻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757666" y="219456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40780" y="3172968"/>
            <a:ext cx="259918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sast로 회귀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(상한 2회)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78290" y="2194560"/>
            <a:ext cx="2507742" cy="8686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224010" y="2194560"/>
            <a:ext cx="24163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BLOCK ✗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132570" y="3172968"/>
            <a:ext cx="259918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 에스컬레이션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(파이프라인 정지)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5760720"/>
            <a:ext cx="11183112" cy="713232"/>
          </a:xfrm>
          <a:prstGeom prst="rect">
            <a:avLst/>
          </a:prstGeom>
          <a:solidFill>
            <a:srgbClr val="E8F2FB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02920" y="5760720"/>
            <a:ext cx="50292" cy="713232"/>
          </a:xfrm>
          <a:prstGeom prst="rect">
            <a:avLst/>
          </a:prstGeom>
          <a:solidFill>
            <a:srgbClr val="1B9CE5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67512" y="5815584"/>
            <a:ext cx="10863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그래프라도 판정에 따라 매번 다른 길을 갑니다. '경로가 데이터에 반응한다'는 것이 단순 스크립트와 오케스트레이션의 차이입니다.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LAB 4 · 감사 로그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Audit Log 해부 — 5W가 남는가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411480" cy="41148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2801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모든 결정이 시계열로 기록됩니다. 한 줄에서 누가·언제·무엇을·왜·결과를 읽을 수 있어야 합니다.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Agentic Security 심화 · Day 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Malgun Gothic"/>
              </a:rPr>
              <a:t>31</a:t>
            </a:r>
          </a:p>
        </p:txBody>
      </p:sp>
      <p:sp>
        <p:nvSpPr>
          <p:cNvPr id="8" name="Text 6"/>
          <p:cNvSpPr/>
          <p:nvPr/>
        </p:nvSpPr>
        <p:spPr>
          <a:xfrm>
            <a:off x="502920" y="1682496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감사 로그 확인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011680"/>
            <a:ext cx="11183112" cy="731520"/>
          </a:xfrm>
          <a:prstGeom prst="rect">
            <a:avLst/>
          </a:prstGeom>
          <a:solidFill>
            <a:srgbClr val="23272E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85800" y="2121408"/>
            <a:ext cx="10817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 -3 memory/audit_log.jsonl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642616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레코드 예시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971800"/>
            <a:ext cx="11183112" cy="1645920"/>
          </a:xfrm>
          <a:prstGeom prst="rect">
            <a:avLst/>
          </a:prstGeom>
          <a:solidFill>
            <a:srgbClr val="23272E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85800" y="3081528"/>
            <a:ext cx="1081735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{"ts":"2026-06-10T14:22:05","agent":"hitl","action":"decision",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"item":"SQL Injection 의심","decision":"reject",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"by":"admin","reason":"non-interactive default-deny"}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4846320"/>
            <a:ext cx="11183112" cy="548640"/>
          </a:xfrm>
          <a:prstGeom prst="rect">
            <a:avLst/>
          </a:prstGeom>
          <a:solidFill>
            <a:srgbClr val="E8F2FB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02920" y="4846320"/>
            <a:ext cx="50292" cy="548640"/>
          </a:xfrm>
          <a:prstGeom prst="rect">
            <a:avLst/>
          </a:prstGeom>
          <a:solidFill>
            <a:srgbClr val="1B9CE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67512" y="4901184"/>
            <a:ext cx="10863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감사 로그는 append-only입니다. 고치거나 지우지 않습니다. 이 불변성이 규제 대응(R155 맥락)의 신뢰 근거입니다.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LAB 4+ · 타임라인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53035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그림으로 보는 HITL·Audit 타임라인 — 한 발견의 일생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161288"/>
            <a:ext cx="411480" cy="41148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02920" y="12801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High 발견 하나가 승인 게이트를 지나 기록으로 남기까지의 시간 순서를 따라갑니다.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Agentic Security 심화 · Day 3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Malgun Gothic"/>
              </a:rPr>
              <a:t>32</a:t>
            </a:r>
          </a:p>
        </p:txBody>
      </p:sp>
      <p:sp>
        <p:nvSpPr>
          <p:cNvPr id="9" name="Shape 6"/>
          <p:cNvSpPr/>
          <p:nvPr/>
        </p:nvSpPr>
        <p:spPr>
          <a:xfrm>
            <a:off x="502920" y="2194560"/>
            <a:ext cx="1929384" cy="868680"/>
          </a:xfrm>
          <a:prstGeom prst="rect">
            <a:avLst/>
          </a:prstGeom>
          <a:solidFill>
            <a:srgbClr val="1B9CE5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48640" y="2194560"/>
            <a:ext cx="1837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발견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2395728" y="219456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7200" y="3172968"/>
            <a:ext cx="20208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sast가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High 발견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State 적재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816352" y="2194560"/>
            <a:ext cx="1929384" cy="868680"/>
          </a:xfrm>
          <a:prstGeom prst="rect">
            <a:avLst/>
          </a:prstGeom>
          <a:solidFill>
            <a:srgbClr val="C2620A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2862072" y="2194560"/>
            <a:ext cx="1837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승인 요청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709160" y="219456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770632" y="3172968"/>
            <a:ext cx="20208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HITL 게이트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파이프라인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일시 정지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129784" y="2194560"/>
            <a:ext cx="1929384" cy="8686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5175504" y="2194560"/>
            <a:ext cx="1837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결정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022592" y="219456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084064" y="3172968"/>
            <a:ext cx="20208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approve/reject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(기본값 거부)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443216" y="2194560"/>
            <a:ext cx="1929384" cy="8686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7488936" y="2194560"/>
            <a:ext cx="1837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기록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9336024" y="219456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397496" y="3172968"/>
            <a:ext cx="20208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audit_log에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결정·사유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append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9756648" y="2194560"/>
            <a:ext cx="1929384" cy="868680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802368" y="2194560"/>
            <a:ext cx="1837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⑤ 반영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9710928" y="3172968"/>
            <a:ext cx="20208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리포트에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확정/반려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분리 표기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02920" y="5760720"/>
            <a:ext cx="11183112" cy="713232"/>
          </a:xfrm>
          <a:prstGeom prst="rect">
            <a:avLst/>
          </a:prstGeom>
          <a:solidFill>
            <a:srgbClr val="E8F2FB"/>
          </a:solidFill>
          <a:ln/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502920" y="5760720"/>
            <a:ext cx="50292" cy="713232"/>
          </a:xfrm>
          <a:prstGeom prst="rect">
            <a:avLst/>
          </a:prstGeom>
          <a:solidFill>
            <a:srgbClr val="1B9CE5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667512" y="5815584"/>
            <a:ext cx="10863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다섯 칸이 '통제된 자동화'의 심장입니다. 멈춤(②③)과 기록(④)이 있어야 자동화를 신뢰할 수 있습니다.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LAB 4 · 리포트 상태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확정과 반려를 리포트에서 구분한다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411480" cy="41148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2801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HITL 결정 결과가 리포트에 어떻게 반영되는지 봅니다. 반려된 발견이 대응 대상에 섞이면 안 됩니다.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Agentic Security 심화 · Day 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Malgun Gothic"/>
              </a:rPr>
              <a:t>33</a:t>
            </a:r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11183112" cy="9144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67512" y="187452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80160" y="1929384"/>
            <a:ext cx="102229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HITL 상태 컬럼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risk_score_table.md에 'HITL 상태' 컬럼이 있어, 각 발견이 확정인지 반려/보류인지 한눈에 보입니다.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2916936"/>
            <a:ext cx="11183112" cy="9144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" y="2916936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280160" y="2971800"/>
            <a:ext cx="102229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확정/반려 분리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final_report.md는 '확정 발견(대응 대상)'과 '반려·보류 발견(HITL 미승인)'을 별도 섹션으로 나눕니다.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959352"/>
            <a:ext cx="11183112" cy="9144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7512" y="3959352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80160" y="4014216"/>
            <a:ext cx="102229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비대화형 기본 거부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자동 채점 환경에서는 High 이상이 모두 반려로 처리됩니다. 이는 의도된 안전 동작입니다.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5760720"/>
            <a:ext cx="11183112" cy="713232"/>
          </a:xfrm>
          <a:prstGeom prst="rect">
            <a:avLst/>
          </a:prstGeom>
          <a:solidFill>
            <a:srgbClr val="E8F2FB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02920" y="5760720"/>
            <a:ext cx="50292" cy="713232"/>
          </a:xfrm>
          <a:prstGeom prst="rect">
            <a:avLst/>
          </a:prstGeom>
          <a:solidFill>
            <a:srgbClr val="1B9CE5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67512" y="5815584"/>
            <a:ext cx="10863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수강생이 '위험도 1순위인데 왜 반려?'라고 물으면, 위험도는 '우선순위 권고'이고 HITL 상태는 '대응 승인 여부'로 다른 축임을 설명합니다.</a:t>
            </a:r>
            <a:endParaRPr lang="en-US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LAB 4 · 회고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LAB 3·4 회고 — 우리 업무로 가져가기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411480" cy="41148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2801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오케스트레이션과 안전장치를 부서 업무와 연결하는 회고입니다.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Agentic Security 심화 · Day 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Malgun Gothic"/>
              </a:rPr>
              <a:t>34</a:t>
            </a:r>
          </a:p>
        </p:txBody>
      </p:sp>
      <p:sp>
        <p:nvSpPr>
          <p:cNvPr id="8" name="Shape 6"/>
          <p:cNvSpPr/>
          <p:nvPr/>
        </p:nvSpPr>
        <p:spPr>
          <a:xfrm>
            <a:off x="502920" y="1965960"/>
            <a:ext cx="5454396" cy="3566160"/>
          </a:xfrm>
          <a:prstGeom prst="rect">
            <a:avLst/>
          </a:prstGeom>
          <a:solidFill>
            <a:srgbClr val="F7F8FA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02920" y="1965960"/>
            <a:ext cx="5454396" cy="54864"/>
          </a:xfrm>
          <a:prstGeom prst="rect">
            <a:avLst/>
          </a:prstGeom>
          <a:solidFill>
            <a:srgbClr val="1B9CE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04088" y="2112264"/>
            <a:ext cx="5052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9C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관찰한 것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04088" y="2532888"/>
            <a:ext cx="505206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모든 결과가 State를 지나야 통제 가능</a:t>
            </a:r>
            <a:endParaRPr lang="en-US" sz="11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검증·HITL·감사는 한곳에 모여야 함</a:t>
            </a:r>
            <a:endParaRPr lang="en-US" sz="11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기본값 거부가 안전의 출발점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31636" y="1965960"/>
            <a:ext cx="5454396" cy="3566160"/>
          </a:xfrm>
          <a:prstGeom prst="rect">
            <a:avLst/>
          </a:prstGeom>
          <a:solidFill>
            <a:srgbClr val="F7F8FA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31636" y="1965960"/>
            <a:ext cx="5454396" cy="54864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32804" y="2112264"/>
            <a:ext cx="5052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가져갈 질문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32804" y="2532888"/>
            <a:ext cx="505206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우리 점검 흐름에서 사람 승인이 꼭 필요한 지점은?</a:t>
            </a:r>
            <a:endParaRPr lang="en-US" sz="11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어떤 결정을 반드시 로그로 남겨야 하나?</a:t>
            </a:r>
            <a:endParaRPr lang="en-US" sz="11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무한 루프·폭주를 막을 상한은 어디에?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5760720"/>
            <a:ext cx="11183112" cy="548640"/>
          </a:xfrm>
          <a:prstGeom prst="rect">
            <a:avLst/>
          </a:prstGeom>
          <a:solidFill>
            <a:srgbClr val="E8F2FB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02920" y="5760720"/>
            <a:ext cx="50292" cy="548640"/>
          </a:xfrm>
          <a:prstGeom prst="rect">
            <a:avLst/>
          </a:prstGeom>
          <a:solidFill>
            <a:srgbClr val="1B9CE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67512" y="5815584"/>
            <a:ext cx="10863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여기서 적은 답이 Day 5 통합 PoC와 부서 적용 구상으로 이어집니다.</a:t>
            </a:r>
            <a:endParaRPr lang="en-US" sz="11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LAB 4 · 강사 노트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강사 노트 — HITL은 자동화의 적인가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411480" cy="41148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2801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수강생이 'HITL이 자동화를 느리게 한다'고 느낄 때 답할 내용입니다.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Agentic Security 심화 · Day 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Malgun Gothic"/>
              </a:rPr>
              <a:t>35</a:t>
            </a:r>
          </a:p>
        </p:txBody>
      </p:sp>
      <p:sp>
        <p:nvSpPr>
          <p:cNvPr id="8" name="Shape 6"/>
          <p:cNvSpPr/>
          <p:nvPr/>
        </p:nvSpPr>
        <p:spPr>
          <a:xfrm>
            <a:off x="502920" y="1965960"/>
            <a:ext cx="5454396" cy="3566160"/>
          </a:xfrm>
          <a:prstGeom prst="rect">
            <a:avLst/>
          </a:prstGeom>
          <a:solidFill>
            <a:srgbClr val="F7F8FA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02920" y="1965960"/>
            <a:ext cx="5454396" cy="5486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04088" y="2112264"/>
            <a:ext cx="5052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C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오해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04088" y="2532888"/>
            <a:ext cx="505206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'사람이 끼면 자동화가 아니다'</a:t>
            </a:r>
            <a:endParaRPr lang="en-US" sz="11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'멈추면 효율이 떨어진다'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31636" y="1965960"/>
            <a:ext cx="5454396" cy="3566160"/>
          </a:xfrm>
          <a:prstGeom prst="rect">
            <a:avLst/>
          </a:prstGeom>
          <a:solidFill>
            <a:srgbClr val="F7F8FA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31636" y="1965960"/>
            <a:ext cx="5454396" cy="54864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32804" y="2112264"/>
            <a:ext cx="5052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관점 전환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32804" y="2532888"/>
            <a:ext cx="505206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위험한 결정에만 멈춤 → 효율 손실 최소</a:t>
            </a:r>
            <a:endParaRPr lang="en-US" sz="11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신뢰할 수 없는 빠름은 무의미</a:t>
            </a:r>
            <a:endParaRPr lang="en-US" sz="11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사람의 승인이 곧 책임의 소재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5760720"/>
            <a:ext cx="11183112" cy="548640"/>
          </a:xfrm>
          <a:prstGeom prst="rect">
            <a:avLst/>
          </a:prstGeom>
          <a:solidFill>
            <a:srgbClr val="E8F2FB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02920" y="5760720"/>
            <a:ext cx="50292" cy="548640"/>
          </a:xfrm>
          <a:prstGeom prst="rect">
            <a:avLst/>
          </a:prstGeom>
          <a:solidFill>
            <a:srgbClr val="1B9CE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67512" y="5815584"/>
            <a:ext cx="10863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강사 팁: 차량 안전 영역에서는 '빠른 자동 대응'보다 '검증된 신중한 대응'이 우선입니다. HITL은 그 신중함의 장치입니다.</a:t>
            </a:r>
            <a:endParaRPr lang="en-US" sz="11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LAB 점검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Malgun Gothic"/>
              </a:rPr>
              <a:t>여기까지 — 실습·산출물 확인 미니 점검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411480" cy="41148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Agentic Security 심화 · Day 3 · 실습 점검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Malgun Gothic"/>
              </a:rPr>
              <a:t>36</a:t>
            </a:r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여기까지 이해했는지 스스로 점검해 봅니다.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286000"/>
            <a:ext cx="11183112" cy="512064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85800" y="2423160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85800" y="2404872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69848" y="2286000"/>
            <a:ext cx="104515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단일 8건 vs 멀티 16건의 차이를 설명한다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502920" y="2907792"/>
            <a:ext cx="11183112" cy="512064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85800" y="3044952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85800" y="3026664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69848" y="2907792"/>
            <a:ext cx="104515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State가 끊기는 지점을 추적할 수 있다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502920" y="3529584"/>
            <a:ext cx="11183112" cy="512064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85800" y="3666744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5800" y="3648456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9848" y="3529584"/>
            <a:ext cx="104515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PASS/RETRY/BLOCK이 경로를 바꾸는 것을 안다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502920" y="4151376"/>
            <a:ext cx="11183112" cy="512064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85800" y="4288536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5800" y="427024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69848" y="4151376"/>
            <a:ext cx="104515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deny-by-default가 왜 안전한지 설명한다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502920" y="4773168"/>
            <a:ext cx="11183112" cy="512064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85800" y="4910328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5800" y="489204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69848" y="4773168"/>
            <a:ext cx="104515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audit_log에서 5W를 읽을 수 있다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502920" y="5760720"/>
            <a:ext cx="11183112" cy="713232"/>
          </a:xfrm>
          <a:prstGeom prst="rect">
            <a:avLst/>
          </a:prstGeom>
          <a:solidFill>
            <a:srgbClr val="E8F2FB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502920" y="5760720"/>
            <a:ext cx="50292" cy="713232"/>
          </a:xfrm>
          <a:prstGeom prst="rect">
            <a:avLst/>
          </a:prstGeom>
          <a:solidFill>
            <a:srgbClr val="1B9CE5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67512" y="5815584"/>
            <a:ext cx="10863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다섯 가지에 답할 수 있으면 오늘의 목표를 달성한 것입니다.</a:t>
            </a:r>
            <a:endParaRPr lang="en-US" sz="11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종합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3을 한 장으로 — 통제의 세 기둥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411480" cy="41148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2801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다룬 내용을 세 기둥으로 묶습니다. 모두 '통제'를 위한 장치입니다.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Agentic Security 심화 · Day 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Malgun Gothic"/>
              </a:rPr>
              <a:t>37</a:t>
            </a:r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3617976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9CE5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02920" y="2103120"/>
            <a:ext cx="3617976" cy="731520"/>
          </a:xfrm>
          <a:prstGeom prst="rect">
            <a:avLst/>
          </a:prstGeom>
          <a:solidFill>
            <a:srgbClr val="1B9CE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12648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" y="2377440"/>
            <a:ext cx="3471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오케스트레이션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30936" y="2907792"/>
            <a:ext cx="336194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중앙 Supervisor가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역할·순서를 통제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85488" y="2103120"/>
            <a:ext cx="3617976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C2620A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285488" y="2103120"/>
            <a:ext cx="3617976" cy="731520"/>
          </a:xfrm>
          <a:prstGeom prst="rect">
            <a:avLst/>
          </a:prstGeom>
          <a:solidFill>
            <a:srgbClr val="C2620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395216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58640" y="2377440"/>
            <a:ext cx="3471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 루프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413504" y="2907792"/>
            <a:ext cx="336194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PASS/RETRY/BLOCK으로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품질을 통제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68056" y="2103120"/>
            <a:ext cx="3617976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068056" y="2103120"/>
            <a:ext cx="3617976" cy="7315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177784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41208" y="2377440"/>
            <a:ext cx="3471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HITL·감사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196072" y="2907792"/>
            <a:ext cx="336194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멈춤과 기록으로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위험과 책임을 통제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5760720"/>
            <a:ext cx="11183112" cy="713232"/>
          </a:xfrm>
          <a:prstGeom prst="rect">
            <a:avLst/>
          </a:prstGeom>
          <a:solidFill>
            <a:srgbClr val="E8F2FB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02920" y="5760720"/>
            <a:ext cx="50292" cy="713232"/>
          </a:xfrm>
          <a:prstGeom prst="rect">
            <a:avLst/>
          </a:prstGeom>
          <a:solidFill>
            <a:srgbClr val="1B9CE5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67512" y="5815584"/>
            <a:ext cx="10863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 기둥 모두 Day 1에서 배운 '하네스 요소⑤ 안전장치'의 구체적 구현입니다. 오늘 그것이 코드가 되었습니다.</a:t>
            </a:r>
            <a:endParaRPr lang="en-US" sz="11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3 · 마무리 (1/3)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3 — 오늘 만든 산출물 확인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411480" cy="41148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2801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저장소에 실제로 남은 것들입니다. 다음 Day의 입력으로 누적됩니다.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Agentic Security 심화 · Day 3 · 산출물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Malgun Gothic"/>
              </a:rPr>
              <a:t>38</a:t>
            </a:r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11183112" cy="82296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67512" y="19202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80160" y="1975104"/>
            <a:ext cx="10222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reports/lab3_report.md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5개 Agent 협업의 통합 점검 리포트 (HITL 상태 컬럼 포함)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2871216"/>
            <a:ext cx="11183112" cy="82296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" y="2871216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280160" y="2926080"/>
            <a:ext cx="10222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memory/audit_log.jsonl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라우팅·판정·HITL 결정의 시계열 기록 (append-only)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877056"/>
            <a:ext cx="11183112" cy="640080"/>
          </a:xfrm>
          <a:prstGeom prst="rect">
            <a:avLst/>
          </a:prstGeom>
          <a:solidFill>
            <a:srgbClr val="E8F2FB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02920" y="3877056"/>
            <a:ext cx="50292" cy="640080"/>
          </a:xfrm>
          <a:prstGeom prst="rect">
            <a:avLst/>
          </a:prstGeom>
          <a:solidFill>
            <a:srgbClr val="1B9CE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67512" y="3931920"/>
            <a:ext cx="10863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멀티 에이전트 + 검증 + 감사 체계가 완성됩니다. Day 4에서 위협 정보를 결합하면 우선순위가 생깁니다.</a:t>
            </a:r>
            <a:endParaRPr lang="en-US" sz="11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3 · 마무리 (2/3)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3 — 자주 나는 오류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411480" cy="41148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2801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강의장에서 가장 흔히 막히는 지점과 즉시 대응법입니다.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Agentic Security 심화 · Day 3 · 오류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Malgun Gothic"/>
              </a:rPr>
              <a:t>39</a:t>
            </a:r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11183112" cy="749808"/>
          </a:xfrm>
          <a:prstGeom prst="rect">
            <a:avLst/>
          </a:prstGeom>
          <a:solidFill>
            <a:srgbClr val="FDF3E7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02920" y="1920240"/>
            <a:ext cx="45720" cy="749808"/>
          </a:xfrm>
          <a:prstGeom prst="rect">
            <a:avLst/>
          </a:prstGeom>
          <a:solidFill>
            <a:srgbClr val="C2620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85800" y="2011680"/>
            <a:ext cx="10817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KeyError: 'findings'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그래프 배선 훼손 → git checkout으로 템플릿 복원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761488"/>
            <a:ext cx="11183112" cy="749808"/>
          </a:xfrm>
          <a:prstGeom prst="rect">
            <a:avLst/>
          </a:prstGeom>
          <a:solidFill>
            <a:srgbClr val="FDF3E7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02920" y="2761488"/>
            <a:ext cx="45720" cy="749808"/>
          </a:xfrm>
          <a:prstGeom prst="rect">
            <a:avLst/>
          </a:prstGeom>
          <a:solidFill>
            <a:srgbClr val="C2620A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85800" y="2852928"/>
            <a:ext cx="10817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--hitl인데 안 멈춤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High 발견 존재 여부·review 임계값 확인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602736"/>
            <a:ext cx="11183112" cy="749808"/>
          </a:xfrm>
          <a:prstGeom prst="rect">
            <a:avLst/>
          </a:prstGeom>
          <a:solidFill>
            <a:srgbClr val="FDF3E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02920" y="3602736"/>
            <a:ext cx="45720" cy="749808"/>
          </a:xfrm>
          <a:prstGeom prst="rect">
            <a:avLst/>
          </a:prstGeom>
          <a:solidFill>
            <a:srgbClr val="C2620A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85800" y="3694176"/>
            <a:ext cx="10817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RETRY 무한 반복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재시도 상한(2회) 코드 누락 확인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443984"/>
            <a:ext cx="11183112" cy="749808"/>
          </a:xfrm>
          <a:prstGeom prst="rect">
            <a:avLst/>
          </a:prstGeom>
          <a:solidFill>
            <a:srgbClr val="FDF3E7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02920" y="4443984"/>
            <a:ext cx="45720" cy="749808"/>
          </a:xfrm>
          <a:prstGeom prst="rect">
            <a:avLst/>
          </a:prstGeom>
          <a:solidFill>
            <a:srgbClr val="C2620A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85800" y="4535424"/>
            <a:ext cx="10817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audit_log 비어 있음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memory/ 디렉터리·쓰기 권한 확인</a:t>
            </a:r>
            <a:endParaRPr lang="en-US" sz="11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3 · 마무리 (3/3)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3 — 완료 체크리스트 · 다음 Day 연결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411480" cy="41148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2801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체크리스트로 마감하고, 내일로 이어지는 연결고리를 확인합니다.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Agentic Security 심화 · Day 3 · 체크·연결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Malgun Gothic"/>
              </a:rPr>
              <a:t>40</a:t>
            </a:r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11183112" cy="4572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49224" y="2029968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6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9224" y="2011680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14984" y="192024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supervisor_graph 전체 실행 성공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468880"/>
            <a:ext cx="11183112" cy="4572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49224" y="2578608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6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9224" y="2560320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14984" y="246888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router→report 흐름 확인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017520"/>
            <a:ext cx="11183112" cy="4572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9224" y="3127248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6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9224" y="3108960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14984" y="30175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Router 분기 개조 적용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3566160"/>
            <a:ext cx="11183112" cy="4572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49224" y="3675888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6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9224" y="3657600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14984" y="356616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--hitl에서 High 발견 정지 확인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4114800"/>
            <a:ext cx="11183112" cy="4572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49224" y="4224528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6B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9224" y="4206240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14984" y="411480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audit_log 5W 기록 확인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4663440"/>
            <a:ext cx="11183112" cy="4572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49224" y="4773168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6B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49224" y="4754880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14984" y="466344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확정/반려 발견이 리포트에서 구분되는지 확인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02920" y="5989320"/>
            <a:ext cx="11183112" cy="548640"/>
          </a:xfrm>
          <a:prstGeom prst="rect">
            <a:avLst/>
          </a:prstGeom>
          <a:solidFill>
            <a:srgbClr val="E8F2FB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502920" y="5989320"/>
            <a:ext cx="50292" cy="548640"/>
          </a:xfrm>
          <a:prstGeom prst="rect">
            <a:avLst/>
          </a:prstGeom>
          <a:solidFill>
            <a:srgbClr val="1B9CE5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67512" y="6044184"/>
            <a:ext cx="10863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Day 연결고리 → Day 4: 발견은 많은데 '무엇부터?'에 답하려면 외부 위협 정보(CVE·KEV·EPSS)가 필요하다</a:t>
            </a:r>
            <a:endParaRPr lang="en-US" sz="11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APPENDIX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3017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부록 — 이론 상세 보충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3931920"/>
            <a:ext cx="548640" cy="45720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4114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본문에서 압축한 개념의 상세 설명입니다. 수업 중 질문이 나오거나, 복습 시 참조하세요.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00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Agentic Security 심화 · Day 3 · Appendix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Malgun Gothic"/>
              </a:rPr>
              <a:t>41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Appendix A-1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[상세] 워크플로우 5대 패턴 비교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411480" cy="41148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2801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본문 '이론 2'의 상세판. 다섯 패턴을 같은 기준으로 펼칩니다.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Agentic Security 심화 · Day 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Malgun Gothic"/>
              </a:rPr>
              <a:t>42</a:t>
            </a:r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65960"/>
          <a:ext cx="1118311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2377440"/>
                <a:gridCol w="441655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패턴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B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구조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장점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본 과정 사용</a:t>
                      </a:r>
                      <a:endParaRPr lang="en-US" sz="11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Chaining</a:t>
                      </a:r>
                      <a:endParaRPr lang="en-US" sz="10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단계 직선</a:t>
                      </a:r>
                      <a:endParaRPr lang="en-US" sz="10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예측 가능</a:t>
                      </a:r>
                      <a:endParaRPr lang="en-US" sz="10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부분 (순차 흐름)</a:t>
                      </a:r>
                      <a:endParaRPr lang="en-US" sz="10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Routing</a:t>
                      </a:r>
                      <a:endParaRPr lang="en-US" sz="10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입력별 분기</a:t>
                      </a:r>
                      <a:endParaRPr lang="en-US" sz="10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효율적 배분</a:t>
                      </a:r>
                      <a:endParaRPr lang="en-US" sz="10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채택 (route_input)</a:t>
                      </a:r>
                      <a:endParaRPr lang="en-US" sz="10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Parallel</a:t>
                      </a:r>
                      <a:endParaRPr lang="en-US" sz="10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동시 실행</a:t>
                      </a:r>
                      <a:endParaRPr lang="en-US" sz="10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빠름</a:t>
                      </a:r>
                      <a:endParaRPr lang="en-US" sz="10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미사용 (단순화)</a:t>
                      </a:r>
                      <a:endParaRPr lang="en-US" sz="10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Supervisor</a:t>
                      </a:r>
                      <a:endParaRPr lang="en-US" sz="10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중앙 위임</a:t>
                      </a:r>
                      <a:endParaRPr lang="en-US" sz="10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통제·감사</a:t>
                      </a:r>
                      <a:endParaRPr lang="en-US" sz="10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채택 (핵심)</a:t>
                      </a:r>
                      <a:endParaRPr lang="en-US" sz="10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Reflection</a:t>
                      </a:r>
                      <a:endParaRPr lang="en-US" sz="10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자기 검증</a:t>
                      </a:r>
                      <a:endParaRPr lang="en-US" sz="10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품질 향상</a:t>
                      </a:r>
                      <a:endParaRPr lang="en-US" sz="10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부분 (review 노드)</a:t>
                      </a:r>
                      <a:endParaRPr lang="en-US" sz="10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02920" y="5120640"/>
            <a:ext cx="11183112" cy="914400"/>
          </a:xfrm>
          <a:prstGeom prst="rect">
            <a:avLst/>
          </a:prstGeom>
          <a:solidFill>
            <a:srgbClr val="E8F2FB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502920" y="5120640"/>
            <a:ext cx="50292" cy="914400"/>
          </a:xfrm>
          <a:prstGeom prst="rect">
            <a:avLst/>
          </a:prstGeom>
          <a:solidFill>
            <a:srgbClr val="1B9CE5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67512" y="5175504"/>
            <a:ext cx="10863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단순함이 곧 통제 가능성입니다. 본 과정은 Parallel을 일부러 빼고 순차+중앙 구조를 택해, 검증·감사 지점을 분명히 했습니다.</a:t>
            </a:r>
            <a:endParaRPr lang="en-US" sz="11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Appendix A-2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[상세] State·Node·Edge — LangGraph 3요소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411480" cy="41148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2801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본문 '이론 3'의 상세판. 그래프를 이루는 세 부품을 정의합니다.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Agentic Security 심화 · Day 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Malgun Gothic"/>
              </a:rPr>
              <a:t>43</a:t>
            </a:r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11183112" cy="9144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67512" y="187452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State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80160" y="1929384"/>
            <a:ext cx="102229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중앙 상태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모든 노드가 공유하는 데이터 묶음(SecurityState). 노드는 State를 읽고, 수정한 State를 돌려줍니다.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2916936"/>
            <a:ext cx="11183112" cy="9144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" y="2916936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Node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280160" y="2971800"/>
            <a:ext cx="102229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작업 단위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하나의 일을 하는 함수. 우리의 sast·secret·deps·threat·review·report가 각 노드입니다.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959352"/>
            <a:ext cx="11183112" cy="9144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7512" y="3959352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Edge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80160" y="4014216"/>
            <a:ext cx="102229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연결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노드 간 경로. 고정 Edge(항상 같은 다음)와 조건부 Edge(판정에 따라 갈림)가 있습니다. 배선은 템플릿 고정.</a:t>
            </a:r>
            <a:endParaRPr lang="en-US" sz="12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Appendix A-3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[상세] Provenance — 발견의 출처 추적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411480" cy="41148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2801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본문 LAB 4의 배경. '이 발견이 어디서 왔는가'를 끝까지 되짚는 능력입니다.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Agentic Security 심화 · Day 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Malgun Gothic"/>
              </a:rPr>
              <a:t>44</a:t>
            </a:r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11183112" cy="9144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67512" y="187452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80160" y="1929384"/>
            <a:ext cx="102229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도구까지 역추적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각 발견의 provenance 필드(tool:sast_rules#...)로 어느 도구·규칙이 만들었는지 추적합니다.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2916936"/>
            <a:ext cx="11183112" cy="9144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" y="2916936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280160" y="2971800"/>
            <a:ext cx="102229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결정까지 역추적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audit_log로 그 발견이 승인됐는지 반려됐는지, 누가 언제 결정했는지 되짚습니다.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959352"/>
            <a:ext cx="11183112" cy="9144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7512" y="3959352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80160" y="4014216"/>
            <a:ext cx="102229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중요한가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보안 사고 사후 조사에서 '왜 이 판단을 했는가'를 증명할 수 있어야 합니다. Provenance가 그 증거 사슬입니다.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5760720"/>
            <a:ext cx="11183112" cy="713232"/>
          </a:xfrm>
          <a:prstGeom prst="rect">
            <a:avLst/>
          </a:prstGeom>
          <a:solidFill>
            <a:srgbClr val="E8F2FB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02920" y="5760720"/>
            <a:ext cx="50292" cy="713232"/>
          </a:xfrm>
          <a:prstGeom prst="rect">
            <a:avLst/>
          </a:prstGeom>
          <a:solidFill>
            <a:srgbClr val="1B9CE5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67512" y="5815584"/>
            <a:ext cx="10863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Provenance(출처 증명)는 자동화 신뢰의 핵심입니다. 결과만 있고 출처가 없으면, 그 결과를 믿을 근거가 없습니다.</a:t>
            </a:r>
            <a:endParaRPr lang="en-US" sz="11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Appendix A-4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[상세] deny-by-default — 왜 기본값이 거부인가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61288"/>
            <a:ext cx="411480" cy="41148"/>
          </a:xfrm>
          <a:prstGeom prst="rect">
            <a:avLst/>
          </a:prstGeom>
          <a:solidFill>
            <a:srgbClr val="00A86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28016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본문 LAB 4 HITL의 원리. 안전 설계의 기본 철학입니다.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Agentic Security 심화 · Day 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Malgun Gothic"/>
              </a:rPr>
              <a:t>45</a:t>
            </a:r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11183112" cy="9144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67512" y="187452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원리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80160" y="1929384"/>
            <a:ext cx="102229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모르면 거부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승인 응답이 없거나(타임아웃), 불명확하면 '허용'이 아니라 '거부'가 기본입니다. 침묵을 동의로 해석하지 않습니다.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2916936"/>
            <a:ext cx="11183112" cy="9144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" y="2916936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이유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280160" y="2971800"/>
            <a:ext cx="102229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실패의 방향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시스템이 실패하더라도 '안전한 쪽'으로 실패해야 합니다(fail-safe). 거부로 실패하면 위험이 통과하지 않습니다.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959352"/>
            <a:ext cx="11183112" cy="9144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7512" y="3959352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적용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80160" y="4014216"/>
            <a:ext cx="102229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비대화형 채점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자동 채점 환경에서 High 이상이 모두 반려되는 것은, 사람 승인이 없었기 때문입니다. 의도된 안전 동작입니다.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</a:rPr>
              <a:t>전체 아키텍처 — Security Agent Lab</a:t>
            </a:r>
          </a:p>
        </p:txBody>
      </p:sp>
      <p:pic>
        <p:nvPicPr>
          <p:cNvPr id="3" name="Picture 2" descr="0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395" y="1097280"/>
            <a:ext cx="7052904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</a:rPr>
              <a:t>Day 3 동작 흐름 (시퀀스 다이어그램)</a:t>
            </a:r>
          </a:p>
        </p:txBody>
      </p:sp>
      <p:pic>
        <p:nvPicPr>
          <p:cNvPr id="3" name="Picture 2" descr="05_day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13168"/>
            <a:ext cx="11277295" cy="49631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Security 심화 - Day 3 통합</dc:title>
  <dc:subject>PptxGenJS Presentation</dc:subject>
  <dc:creator>MODULABS</dc:creator>
  <cp:lastModifiedBy>MODULABS</cp:lastModifiedBy>
  <cp:revision>1</cp:revision>
  <dcterms:created xsi:type="dcterms:W3CDTF">2026-06-06T07:27:12Z</dcterms:created>
  <dcterms:modified xsi:type="dcterms:W3CDTF">2026-06-06T07:27:12Z</dcterms:modified>
</cp:coreProperties>
</file>